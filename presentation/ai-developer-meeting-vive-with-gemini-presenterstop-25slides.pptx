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01/24｜目安 0:25</a:t>
            </a:r>
          </a:p>
          <a:p>
            <a:r>
              <a:t>停止点: 冒頭メッセージとVive with Geminiの説明</a:t>
            </a:r>
          </a:p>
          <a:p/>
          <a:p>
            <a:r>
              <a:t>話す要点:</a:t>
            </a:r>
          </a:p>
          <a:p>
            <a:r>
              <a:t>• AIを設計・実装・テストを一緒に進める相棒として使います。</a:t>
            </a:r>
          </a:p>
          <a:p>
            <a:r>
              <a:t>• 短い対話を何度も重ねると、開発スタイルは自然にアジャイルへ近づきます。</a:t>
            </a:r>
          </a:p>
          <a:p>
            <a:r>
              <a:t>• AIは提案と確認を支援し、最終判断と責任は人が持ちます。</a:t>
            </a:r>
          </a:p>
          <a:p>
            <a:r>
              <a:t>• Vive with Geminiは、AIと対話しながら開発・学習・改善する取り組みの総称です。</a:t>
            </a:r>
          </a:p>
          <a:p/>
          <a:p>
            <a:r>
              <a:t>公開URL: https://tako-chan0511.github.io/vive-with-gemini/ai-agile-vive-with-gemini-5.html</a:t>
            </a:r>
          </a:p>
          <a:p/>
          <a:p>
            <a:r>
              <a:t>公開参照: 発表の詳しい内容</a:t>
            </a:r>
          </a:p>
          <a:p>
            <a:r>
              <a:t>https://tako-chan0511.github.io/vive-with-gemini/ai-agile-vive-with-gemini-5.html#ai%E3%81%AF%E3%80%8C%E9%81%93%E5%85%B7%E3%80%8D%E3%81%A6%E3%82%99%E3%81%AA%E3%81%8F%E3%80%8C%E7%9B%B8%E6%A3%92%E3%80%8D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02/24｜目安 0:50</a:t>
            </a:r>
          </a:p>
          <a:p>
            <a:r>
              <a:t>停止点: 自己紹介はここまで</a:t>
            </a:r>
          </a:p>
          <a:p/>
          <a:p>
            <a:r>
              <a:t>話す要点:</a:t>
            </a:r>
          </a:p>
          <a:p>
            <a:r>
              <a:t>• 原 桂介。AI時代のエンジニア育成、業務改革、アジャイル・AI・クラウド推進に取り組んでいます。</a:t>
            </a:r>
          </a:p>
          <a:p>
            <a:r>
              <a:t>• 64歳を過ぎてPython、データ分析、G検定、AWS資格を学び直しました。</a:t>
            </a:r>
          </a:p>
          <a:p>
            <a:r>
              <a:t>• 2025年5月からAIと対話し、26アプリを2〜3日に1本のペースで試作・改善しました。</a:t>
            </a:r>
          </a:p>
          <a:p>
            <a:r>
              <a:t>• 現在の閉域MaaS基盤も、インフラ未経験からの挑戦です。</a:t>
            </a:r>
          </a:p>
          <a:p/>
          <a:p>
            <a:r>
              <a:t>公開参照: 自己紹介・26アプリ</a:t>
            </a:r>
          </a:p>
          <a:p>
            <a:r>
              <a:t>https://tako-chan0511.github.io/vive-with-gemini/ai-agile-vive-with-gemini-5.html#%E5%8E%9F-%E6%A1%82%E4%BB%8B-keisuke-hara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03/24｜目安 1:10</a:t>
            </a:r>
          </a:p>
          <a:p>
            <a:r>
              <a:t>停止点: 導入はここまで</a:t>
            </a:r>
          </a:p>
          <a:p/>
          <a:p>
            <a:r>
              <a:t>話す要点:</a:t>
            </a:r>
          </a:p>
          <a:p>
            <a:r>
              <a:t>• WHYは、なぜAIを相棒と捉えるかと現場の変化です。</a:t>
            </a:r>
          </a:p>
          <a:p>
            <a:r>
              <a:t>• HOWは、設計・実装・テストへAIをどう組み込むかです。</a:t>
            </a:r>
          </a:p>
          <a:p>
            <a:r>
              <a:t>• NOWは、閉域MaaSとモデル性能評価自動化の現在地です。</a:t>
            </a:r>
          </a:p>
          <a:p>
            <a:r>
              <a:t>• AIへ丸投げする話ではなく、価値を高めながら総コストを抑える実践です。</a:t>
            </a:r>
          </a:p>
          <a:p/>
          <a:p>
            <a:r>
              <a:t>公開参照: 本日の流れ</a:t>
            </a:r>
          </a:p>
          <a:p>
            <a:r>
              <a:t>https://tako-chan0511.github.io/vive-with-gemini/ai-agile-vive-with-gemini-5.html#%E6%9C%AC%E6%97%A5%E3%81%AE%E6%B5%81%E3%82%8C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04/24｜目安 1:40</a:t>
            </a:r>
          </a:p>
          <a:p>
            <a:r>
              <a:t>停止点: フィードバックループの説明はここまで</a:t>
            </a:r>
          </a:p>
          <a:p/>
          <a:p>
            <a:r>
              <a:t>話す要点:</a:t>
            </a:r>
          </a:p>
          <a:p>
            <a:r>
              <a:t>• 題材は顧客管理システム刷新プロジェクトでのAI駆動開発です。</a:t>
            </a:r>
          </a:p>
          <a:p>
            <a:r>
              <a:t>• チームの価値は、単位時間あたりのフィードバックの量と質に左右されます。</a:t>
            </a:r>
          </a:p>
          <a:p>
            <a:r>
              <a:t>• 小さく試し、早く学び、次の判断へつなげます。</a:t>
            </a:r>
          </a:p>
          <a:p>
            <a:r>
              <a:t>• AIとの対話でフィードバック機会を増やし、ROI最大化を目指します。</a:t>
            </a:r>
          </a:p>
          <a:p/>
          <a:p>
            <a:r>
              <a:t>公開参照: なぜフィードバックループか</a:t>
            </a:r>
          </a:p>
          <a:p>
            <a:r>
              <a:t>https://tako-chan0511.github.io/vive-with-gemini/ai-agile-vive-with-gemini-5-1.html#_1-%E3%81%AA%E3%81%9B%E3%82%99%E3%83%95%E3%82%A3%E3%83%BC%E3%83%88%E3%82%99%E3%83%8F%E3%82%99%E3%83%83%E3%82%AF%E3%83%AB%E3%83%BC%E3%83%95%E3%82%9A%E3%81%AA%E3%81%AE%E3%81%8B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05/24｜目安 2:10</a:t>
            </a:r>
          </a:p>
          <a:p>
            <a:r>
              <a:t>停止点: AIと人の役割分担はここまで</a:t>
            </a:r>
          </a:p>
          <a:p/>
          <a:p>
            <a:r>
              <a:t>話す要点:</a:t>
            </a:r>
          </a:p>
          <a:p>
            <a:r>
              <a:t>• 完璧な質問を作り込む前に、今の課題をAIへ相談します。</a:t>
            </a:r>
          </a:p>
          <a:p>
            <a:r>
              <a:t>• AIへ入力が許可された情報だけをコンテキストとして渡します。</a:t>
            </a:r>
          </a:p>
          <a:p>
            <a:r>
              <a:t>• AIは選択肢の整理や抜け漏れ確認を支援します。</a:t>
            </a:r>
          </a:p>
          <a:p>
            <a:r>
              <a:t>• 提案の採否と結果への責任は人が持ちます。</a:t>
            </a:r>
          </a:p>
          <a:p/>
          <a:p>
            <a:r>
              <a:t>公開参照: AIと人の役割分担</a:t>
            </a:r>
          </a:p>
          <a:p>
            <a:r>
              <a:t>https://tako-chan0511.github.io/vive-with-gemini/ai-agile-vive-with-gemini-5-1.html#_2-%E3%80%8C%E7%9B%B8%E6%A3%92%E3%80%8D%E3%81%A8%E3%81%AF%E4%BD%95%E3%81%8B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06/24｜目安 2:40</a:t>
            </a:r>
          </a:p>
          <a:p>
            <a:r>
              <a:t>停止点: 5.1 WHYはここまで</a:t>
            </a:r>
          </a:p>
          <a:p/>
          <a:p>
            <a:r>
              <a:t>話す要点:</a:t>
            </a:r>
          </a:p>
          <a:p>
            <a:r>
              <a:t>• 設計・実装・テスト・確認へAI支援と人の確認を組み込みました。</a:t>
            </a:r>
          </a:p>
          <a:p>
            <a:r>
              <a:t>• 要件や実装へのフィードバックを早く得て、手戻り要因を早期発見しやすくなりました。</a:t>
            </a:r>
          </a:p>
          <a:p>
            <a:r>
              <a:t>• 小さな単位で検査し、進捗と課題を次の判断へつなげました。</a:t>
            </a:r>
          </a:p>
          <a:p>
            <a:r>
              <a:t>• スクラムの形をまねたのではなく、短いループの結果としてアジャイルな振る舞いが育ちました。</a:t>
            </a:r>
          </a:p>
          <a:p/>
          <a:p>
            <a:r>
              <a:t>公開参照: 自然発生アジャイル</a:t>
            </a:r>
          </a:p>
          <a:p>
            <a:r>
              <a:t>https://tako-chan0511.github.io/vive-with-gemini/ai-agile-vive-with-gemini-5-1.html#%E8%87%AA%E7%84%B6%E7%99%BA%E7%94%9F%E3%82%A2%E3%82%B7%E3%82%99%E3%83%A3%E3%82%A4%E3%83%AB</a:t>
            </a:r>
          </a:p>
          <a:p>
            <a:r>
              <a:t>関連する公式資料:</a:t>
            </a:r>
          </a:p>
          <a:p>
            <a:r>
              <a:t>• スクラムガイド（日本語）: https://scrumguides.org/docs/scrumguide/v2020/2020-Scrum-Guide-Japanese.pdf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07/24｜目安 3:10</a:t>
            </a:r>
          </a:p>
          <a:p>
            <a:r>
              <a:t>停止点: 三重の安全網の説明はここまで</a:t>
            </a:r>
          </a:p>
          <a:p/>
          <a:p>
            <a:r>
              <a:t>話す要点:</a:t>
            </a:r>
          </a:p>
          <a:p>
            <a:r>
              <a:t>• AIは確率的に応答し、もっともらしい誤りを返す可能性があります。</a:t>
            </a:r>
          </a:p>
          <a:p>
            <a:r>
              <a:t>• 規約や条件をコンテキストとして与えます。</a:t>
            </a:r>
          </a:p>
          <a:p>
            <a:r>
              <a:t>• 自動テストで機械的に検証します。</a:t>
            </a:r>
          </a:p>
          <a:p>
            <a:r>
              <a:t>• 人が意図・価値・安全性を確認し、最終判断と責任を持ちます。</a:t>
            </a:r>
          </a:p>
          <a:p/>
          <a:p>
            <a:r>
              <a:t>公開参照: AI活用の前提</a:t>
            </a:r>
          </a:p>
          <a:p>
            <a:r>
              <a:t>https://tako-chan0511.github.io/vive-with-gemini/ai-agile-vive-with-gemini-5-2.html#_1-%E5%AE%9F%E8%B7%B5%E3%81%AE%E5%89%8D%E6%8F%90</a:t>
            </a:r>
          </a:p>
          <a:p>
            <a:r>
              <a:t>関連する公式資料:</a:t>
            </a:r>
          </a:p>
          <a:p>
            <a:r>
              <a:t>• NIST AI RMF Core: https://airc.nist.gov/airmf-resources/airmf/5-sec-core/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08/24｜目安 4:05</a:t>
            </a:r>
          </a:p>
          <a:p>
            <a:r>
              <a:t>停止点: API開発例はここまで</a:t>
            </a:r>
          </a:p>
          <a:p/>
          <a:p>
            <a:r>
              <a:t>話す要点:</a:t>
            </a:r>
          </a:p>
          <a:p>
            <a:r>
              <a:t>• プロジェクト固有ルールと共通技術ガイドラインを判断の枠組みにします。</a:t>
            </a:r>
          </a:p>
          <a:p>
            <a:r>
              <a:t>• 設計では曖昧さ・矛盾・例外、実装では雛形、テストでは不足ケースをAIが支援します。</a:t>
            </a:r>
          </a:p>
          <a:p>
            <a:r>
              <a:t>• 人は業務ロジック、設計意図、価値、安全性へ集中します。</a:t>
            </a:r>
          </a:p>
          <a:p>
            <a:r>
              <a:t>• 問題は個人の責任ではなく、次の改善材料として扱います。</a:t>
            </a:r>
          </a:p>
          <a:p/>
          <a:p>
            <a:r>
              <a:t>公開参照: AI活用の枠組み</a:t>
            </a:r>
          </a:p>
          <a:p>
            <a:r>
              <a:t>https://tako-chan0511.github.io/vive-with-gemini/ai-agile-vive-with-gemini-5-2.html#_2-ai%E6%B4%BB%E7%94%A8%E3%82%92%E6%94%AF%E3%81%88%E3%82%8B%E3%80%8C%E6%9E%A0%E7%B5%84%E3%81%BF%E3%80%8D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09/24｜目安 4:30</a:t>
            </a:r>
          </a:p>
          <a:p>
            <a:r>
              <a:t>停止点: 5.2 HOWはここまで</a:t>
            </a:r>
          </a:p>
          <a:p/>
          <a:p>
            <a:r>
              <a:t>話す要点:</a:t>
            </a:r>
          </a:p>
          <a:p>
            <a:r>
              <a:t>• 設計・実装・テスト・確認を別工程として切り離しません。</a:t>
            </a:r>
          </a:p>
          <a:p>
            <a:r>
              <a:t>• AIと設計案を作り、小さく実装し、AI確認と自動テストを使います。</a:t>
            </a:r>
          </a:p>
          <a:p>
            <a:r>
              <a:t>• 人が価値と品質を最終判断します。</a:t>
            </a:r>
          </a:p>
          <a:p>
            <a:r>
              <a:t>• 得られた学びを次の改善へすぐ反映します。</a:t>
            </a:r>
          </a:p>
          <a:p/>
          <a:p>
            <a:r>
              <a:t>公開参照: フィードバックを速くする</a:t>
            </a:r>
          </a:p>
          <a:p>
            <a:r>
              <a:t>https://tako-chan0511.github.io/vive-with-gemini/ai-agile-vive-with-gemini-5-2.html#_4-ai%E3%81%A8%E8%87%AA%E5%8B%95%E5%8C%96%E3%81%A6%E3%82%99%E3%83%95%E3%82%A3%E3%83%BC%E3%83%88%E3%82%99%E3%83%8F%E3%82%99%E3%83%83%E3%82%AF%E3%82%92%E9%80%9F%E3%81%8F%E3%81%99%E3%82%8B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10/24｜目安 5:05</a:t>
            </a:r>
          </a:p>
          <a:p>
            <a:r>
              <a:t>停止点: 4本柱と現在地はここまで</a:t>
            </a:r>
          </a:p>
          <a:p/>
          <a:p>
            <a:r>
              <a:t>話す要点:</a:t>
            </a:r>
          </a:p>
          <a:p>
            <a:r>
              <a:t>• 顧客管理刷新とは別に、エアギャップ／閉域向け社内MaaSを構築中です。</a:t>
            </a:r>
          </a:p>
          <a:p>
            <a:r>
              <a:t>• 4本柱はAI協働、OpenShift基盤、GuideLLM評価自動化、GitLab 1週間スプリントです。</a:t>
            </a:r>
          </a:p>
          <a:p>
            <a:r>
              <a:t>• 構築済み・実施中・今後を混ぜずに示します。</a:t>
            </a:r>
          </a:p>
          <a:p>
            <a:r>
              <a:t>• 数値効果はまだ評価中であり、完成形や確定効果として話しません。</a:t>
            </a:r>
          </a:p>
          <a:p/>
          <a:p>
            <a:r>
              <a:t>公開参照: 4本柱と現在地</a:t>
            </a:r>
          </a:p>
          <a:p>
            <a:r>
              <a:t>https://tako-chan0511.github.io/vive-with-gemini/ai-agile-vive-with-gemini-5-3.html#now-%E9%96%89%E5%9F%9F%E7%92%B0%E5%A2%83%E5%90%91%E3%81%91%E3%81%8A%E5%AE%A2%E6%A7%98%E7%A4%BE%E5%86%85maas-%E3%83%A2%E3%83%86%E3%82%99%E3%83%AB%E6%8F%90%E4%BE%9B%E3%82%B5%E3%83%BC%E3%83%92%E3%82%99%E3%82%B9-%E5%9F%BA%E7%9B%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11/24｜目安 5:35</a:t>
            </a:r>
          </a:p>
          <a:p>
            <a:r>
              <a:t>停止点: セキュリティ境界はここまで</a:t>
            </a:r>
          </a:p>
          <a:p/>
          <a:p>
            <a:r>
              <a:t>話す要点:</a:t>
            </a:r>
          </a:p>
          <a:p>
            <a:r>
              <a:t>• 外部接続が許可された承認済み領域でCopilotとCodexを使います。</a:t>
            </a:r>
          </a:p>
          <a:p>
            <a:r>
              <a:t>• AIへ渡すのは入力が許可された情報だけです。</a:t>
            </a:r>
          </a:p>
          <a:p>
            <a:r>
              <a:t>• 人が内容と安全性をレビュー・承認し、所定手順で閉域へ反映します。</a:t>
            </a:r>
          </a:p>
          <a:p>
            <a:r>
              <a:t>• 閉域MaaSからクラウドAIへ直接接続しません。</a:t>
            </a:r>
          </a:p>
          <a:p/>
          <a:p>
            <a:r>
              <a:t>公開参照: セキュリティ境界</a:t>
            </a:r>
          </a:p>
          <a:p>
            <a:r>
              <a:t>https://tako-chan0511.github.io/vive-with-gemini/ai-agile-vive-with-gemini-5-3.html#_1%EF%B8%8F%E2%83%A3-ai%E5%88%A9%E7%94%A8%E9%A0%98%E5%9F%9F%E3%81%A8%E9%96%89%E5%9F%9F%E9%A0%98%E5%9F%9F%E3%82%92%E5%88%86%E9%9B%A2%E3%81%99%E3%82%8B</a:t>
            </a:r>
          </a:p>
          <a:p>
            <a:r>
              <a:t>関連する公式資料:</a:t>
            </a:r>
          </a:p>
          <a:p>
            <a:r>
              <a:t>• Microsoft 365 Copilot Security: https://learn.microsoft.com/en-us/microsoft-365/copilot/security-microsoft-365-copilot</a:t>
            </a:r>
          </a:p>
          <a:p>
            <a:r>
              <a:t>• Codex Agent approvals &amp; security: https://learn.chatgpt.com/docs/agent-approvals-security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12/24｜目安 6:00</a:t>
            </a:r>
          </a:p>
          <a:p>
            <a:r>
              <a:t>停止点: MaaS基盤の責任分離はここまで</a:t>
            </a:r>
          </a:p>
          <a:p/>
          <a:p>
            <a:r>
              <a:t>話す要点:</a:t>
            </a:r>
          </a:p>
          <a:p>
            <a:r>
              <a:t>• Kong Gatewayは認証、入口制御、ルーティング、必要な流量制御を担います。</a:t>
            </a:r>
          </a:p>
          <a:p>
            <a:r>
              <a:t>• OpenShift／KubernetesはPod配置、実行、スケーリング、資源管理を担います。</a:t>
            </a:r>
          </a:p>
          <a:p>
            <a:r>
              <a:t>• GPUは必要な計算資源をPodへ割り当てます。</a:t>
            </a:r>
          </a:p>
          <a:p>
            <a:r>
              <a:t>• 利用者には共通入口を提供し、裏側のPodとGPUは基盤が管理します。</a:t>
            </a:r>
          </a:p>
          <a:p/>
          <a:p>
            <a:r>
              <a:t>公開参照: 基盤の責任分離</a:t>
            </a:r>
          </a:p>
          <a:p>
            <a:r>
              <a:t>https://tako-chan0511.github.io/vive-with-gemini/ai-agile-vive-with-gemini-5-3.html#_3%EF%B8%8F%E2%83%A3-kong%E3%80%81openshift-kubernetes%E3%80%81gpu%E3%81%AE%E8%B2%AC%E4%BB%BB%E3%82%92%E5%88%86%E3%81%91%E3%82%8B</a:t>
            </a:r>
          </a:p>
          <a:p>
            <a:r>
              <a:t>関連する公式資料:</a:t>
            </a:r>
          </a:p>
          <a:p>
            <a:r>
              <a:t>• Kong Gateway: https://developer.konghq.com/gateway/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13/24｜目安 6:30</a:t>
            </a:r>
          </a:p>
          <a:p>
            <a:r>
              <a:t>停止点: 課題設定はここまで</a:t>
            </a:r>
          </a:p>
          <a:p/>
          <a:p>
            <a:r>
              <a:t>話す要点:</a:t>
            </a:r>
          </a:p>
          <a:p>
            <a:r>
              <a:t>• 複数モデルを個別に設定・実行・転記すると評価自体に時間がかかります。</a:t>
            </a:r>
          </a:p>
          <a:p>
            <a:r>
              <a:t>• GuideLLMで同じ手順・形式の性能比較を進めます。</a:t>
            </a:r>
          </a:p>
          <a:p>
            <a:r>
              <a:t>• 測るのはスループットやレイテンシーなどの性能です。</a:t>
            </a:r>
          </a:p>
          <a:p>
            <a:r>
              <a:t>• 正確性・妥当性・安全性・業務適合性などの回答品質とは分けます。</a:t>
            </a:r>
          </a:p>
          <a:p/>
          <a:p>
            <a:r>
              <a:t>公開参照: 性能評価と品質評価</a:t>
            </a:r>
          </a:p>
          <a:p>
            <a:r>
              <a:t>https://tako-chan0511.github.io/vive-with-gemini/ai-agile-vive-with-gemini-5-3.html#_4%EF%B8%8F%E2%83%A3-%E5%A4%9A%E6%A7%98%E3%81%AA%E3%83%A2%E3%83%86%E3%82%99%E3%83%AB%E3%82%92%E7%9F%AD%E6%99%82%E9%96%93%E3%81%A6%E3%82%99%E6%AF%94%E8%BC%83%E3%81%99%E3%82%8B%E6%80%A7%E8%83%BD%E3%83%98%E3%82%99%E3%83%B3%E3%83%81%E3%83%9E%E3%83%BC%E3%82%AF%E8%87%AA%E5%8B%95%E5%8C%96</a:t>
            </a:r>
          </a:p>
          <a:p>
            <a:r>
              <a:t>関連する公式資料:</a:t>
            </a:r>
          </a:p>
          <a:p>
            <a:r>
              <a:t>• GuideLLM: https://github.com/vllm-project/guidellm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14/24｜目安 7:10</a:t>
            </a:r>
          </a:p>
          <a:p>
            <a:r>
              <a:t>停止点: GuideLLMとvLLMの2つの入力軸はここまで</a:t>
            </a:r>
          </a:p>
          <a:p/>
          <a:p>
            <a:r>
              <a:t>話す要点:</a:t>
            </a:r>
          </a:p>
          <a:p>
            <a:r>
              <a:t>• 入力1はリクエストレート、同時実行数、トークン数、試験時間などの負荷条件です。</a:t>
            </a:r>
          </a:p>
          <a:p>
            <a:r>
              <a:t>• 入力2はmax-model-len、max-num-seqs、batched-tokens、GPUメモリ設定です。</a:t>
            </a:r>
          </a:p>
          <a:p>
            <a:r>
              <a:t>• モデル、vLLM版、GPU構成、レプリカ数などの前提をそろえます。</a:t>
            </a:r>
          </a:p>
          <a:p>
            <a:r>
              <a:t>• 図は自動チューニングではなく、人が結果を見て次の条件を決めます。</a:t>
            </a:r>
          </a:p>
          <a:p/>
          <a:p>
            <a:r>
              <a:t>公開参照: 2つの入力条件</a:t>
            </a:r>
          </a:p>
          <a:p>
            <a:r>
              <a:t>https://tako-chan0511.github.io/vive-with-gemini/ai-agile-vive-with-gemini-5-3.html#%E5%85%A5%E5%8A%9B1-guidellm%E5%81%B4%E3%81%AE%E8%B2%A0%E8%8D%B7%E6%9D%A1%E4%BB%B6%E3%82%92%E5%A4%89%E3%81%88%E3%82%8B</a:t>
            </a:r>
          </a:p>
          <a:p>
            <a:r>
              <a:t>関連する公式資料:</a:t>
            </a:r>
          </a:p>
          <a:p>
            <a:r>
              <a:t>• GuideLLM: https://github.com/vllm-project/guidellm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15/24｜目安 7:30</a:t>
            </a:r>
          </a:p>
          <a:p>
            <a:r>
              <a:t>停止点: 共通実行方法はここまで</a:t>
            </a:r>
          </a:p>
          <a:p/>
          <a:p>
            <a:r>
              <a:t>話す要点:</a:t>
            </a:r>
          </a:p>
          <a:p>
            <a:r>
              <a:t>• 結果はスループット、レイテンシー、TTFT、成功・エラー件数などです。</a:t>
            </a:r>
          </a:p>
          <a:p>
            <a:r>
              <a:t>• 実際に取得・保存できた指標だけを判断へ使います。</a:t>
            </a:r>
          </a:p>
          <a:p>
            <a:r>
              <a:t>• 権限を持つ利用者の任意実行と、プロジェクト側の定期バッチを用意します。</a:t>
            </a:r>
          </a:p>
          <a:p>
            <a:r>
              <a:t>• 担当者が変わっても同じ手順・形式でモデル間・時系列比較へつなげます。</a:t>
            </a:r>
          </a:p>
          <a:p/>
          <a:p>
            <a:r>
              <a:t>公開参照: 共通手順での実行</a:t>
            </a:r>
          </a:p>
          <a:p>
            <a:r>
              <a:t>https://tako-chan0511.github.io/vive-with-gemini/ai-agile-vive-with-gemini-5-3.html#%E6%A8%A9%E9%99%90%E3%82%92%E6%8C%81%E3%81%A4%E7%A4%BE%E5%86%85%E5%88%A9%E7%94%A8%E8%80%85%E3%81%8B%E3%82%99%E5%90%8C%E3%81%97%E3%82%99%E6%89%8B%E9%A0%86%E3%81%A6%E3%82%99%E5%AE%9F%E8%A1%8C%E3%81%99%E3%82%8B</a:t>
            </a:r>
          </a:p>
          <a:p>
            <a:r>
              <a:t>関連する公式資料:</a:t>
            </a:r>
          </a:p>
          <a:p>
            <a:r>
              <a:t>• GuideLLM: https://github.com/vllm-project/guidellm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16/24｜目安 8:35</a:t>
            </a:r>
          </a:p>
          <a:p>
            <a:r>
              <a:t>停止点: 最大の見せ場：Agent図はここまで</a:t>
            </a:r>
          </a:p>
          <a:p/>
          <a:p>
            <a:r>
              <a:t>話す要点:</a:t>
            </a:r>
          </a:p>
          <a:p>
            <a:r>
              <a:t>• 評価条件と結果をセットで保存し、再現・比較・監査へ使います。</a:t>
            </a:r>
          </a:p>
          <a:p>
            <a:r>
              <a:t>• 独自Agent「ベンチ評価ブック作成」はプロジェクト関係者へ公開済みです。</a:t>
            </a:r>
          </a:p>
          <a:p>
            <a:r>
              <a:t>• 入力はExcelテンプレート、GuideLLM結果tar、Pod起動ログの3点です。</a:t>
            </a:r>
          </a:p>
          <a:p>
            <a:r>
              <a:t>• Agentは作成を支援し、元データ確認・モデル採用・GPU構成判断は人が行います。</a:t>
            </a:r>
          </a:p>
          <a:p/>
          <a:p>
            <a:r>
              <a:t>公開参照: 評価ブック作成Agent</a:t>
            </a:r>
          </a:p>
          <a:p>
            <a:r>
              <a:t>https://tako-chan0511.github.io/vive-with-gemini/ai-agile-vive-with-gemini-5-3.html#%E8%A9%95%E4%BE%A1%E3%83%86%E3%82%99%E3%83%BC%E3%82%BF%E3%82%92%E4%BF%9D%E5%AD%98%E3%81%97%E3%80%81copilot-agent%E3%81%A6%E3%82%99%E8%A9%95%E4%BE%A1%E3%83%95%E3%82%99%E3%83%83%E3%82%AF%E3%82%92%E4%BD%9C%E6%88%90%E3%81%99%E3%82%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17/24｜目安 9:15</a:t>
            </a:r>
          </a:p>
          <a:p>
            <a:r>
              <a:t>停止点: 全体の業務フローはここまで</a:t>
            </a:r>
          </a:p>
          <a:p/>
          <a:p>
            <a:r>
              <a:t>話す要点:</a:t>
            </a:r>
          </a:p>
          <a:p>
            <a:r>
              <a:t>• GuideLLM実行、結果とログ保存、Agentによる評価ブック作成をつなぎます。</a:t>
            </a:r>
          </a:p>
          <a:p>
            <a:r>
              <a:t>• vLLMメトリクスを同じ時間帯にそろえ、別依頼で追加評価します。</a:t>
            </a:r>
          </a:p>
          <a:p>
            <a:r>
              <a:t>• 人が元データ・集計・表・グラフを確認し、回答品質の別評価も踏まえて判断します。</a:t>
            </a:r>
          </a:p>
          <a:p>
            <a:r>
              <a:t>• 性能評価の業務フローであり、Copilotから閉域MaaSへ直接接続しません。</a:t>
            </a:r>
          </a:p>
          <a:p/>
          <a:p>
            <a:r>
              <a:t>公開参照: 自動化フロー</a:t>
            </a:r>
          </a:p>
          <a:p>
            <a:r>
              <a:t>https://tako-chan0511.github.io/vive-with-gemini/ai-agile-vive-with-gemini-5-3.html#maas%E6%80%A7%E8%83%BD%E3%83%98%E3%82%99%E3%83%B3%E3%83%81%E3%83%9E%E3%83%BC%E3%82%AF%E3%83%BB%E5%88%86%E6%9E%90%E3%81%AE%E8%87%AA%E5%8B%95%E5%8C%96%E3%83%95%E3%83%AD%E3%83%BC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18/24｜目安 10:20</a:t>
            </a:r>
          </a:p>
          <a:p>
            <a:r>
              <a:t>停止点: 外形性能と内部状態の突き合わせはここまで</a:t>
            </a:r>
          </a:p>
          <a:p/>
          <a:p>
            <a:r>
              <a:t>話す要点:</a:t>
            </a:r>
          </a:p>
          <a:p>
            <a:r>
              <a:t>• GuideLLMは利用者視点で何が起きたかを見ます。</a:t>
            </a:r>
          </a:p>
          <a:p>
            <a:r>
              <a:t>• vLLM・基盤メトリクスは、なぜ起きた可能性があるかを考える材料です。</a:t>
            </a:r>
          </a:p>
          <a:p>
            <a:r>
              <a:t>• Prefill／Decode、Queue／Wait、KV、CPU、GPU、Tensor Coreなどを確認します。</a:t>
            </a:r>
          </a:p>
          <a:p>
            <a:r>
              <a:t>• 時間が一致しただけで因果を断定せず、現状はPromQL選択と時間同期を人が行います。</a:t>
            </a:r>
          </a:p>
          <a:p/>
          <a:p>
            <a:r>
              <a:t>公開参照: 外形性能と内部メトリクス</a:t>
            </a:r>
          </a:p>
          <a:p>
            <a:r>
              <a:t>https://tako-chan0511.github.io/vive-with-gemini/ai-agile-vive-with-gemini-5-3.html#guidellm%E7%B5%90%E6%9E%9C%E3%81%A8vllm%E3%83%BB%E5%9F%BA%E7%9B%A4%E3%83%A1%E3%83%88%E3%83%AA%E3%82%AF%E3%82%B9%E3%81%AE%E7%AA%81%E3%81%8D%E5%90%88%E3%82%8F%E3%81%9B</a:t>
            </a:r>
          </a:p>
          <a:p>
            <a:r>
              <a:t>関連する公式資料:</a:t>
            </a:r>
          </a:p>
          <a:p>
            <a:r>
              <a:t>• vLLM Metrics: https://docs.vllm.ai/en/latest/design/metrics/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19/24｜目安 10:45</a:t>
            </a:r>
          </a:p>
          <a:p>
            <a:r>
              <a:t>停止点: 評価コストの説明はここまで</a:t>
            </a:r>
          </a:p>
          <a:p/>
          <a:p>
            <a:r>
              <a:t>話す要点:</a:t>
            </a:r>
          </a:p>
          <a:p>
            <a:r>
              <a:t>• 削減対象は条件設定、個別実行、結果収集、Excel転記、集計式、グラフ作成です。</a:t>
            </a:r>
          </a:p>
          <a:p>
            <a:r>
              <a:t>• PromQL表示期間合わせ、担当者ごとの手順差、定期評価管理も対象です。</a:t>
            </a:r>
          </a:p>
          <a:p>
            <a:r>
              <a:t>• モデル更新時の評価、GPU検討、利用者要望に合うモデル提案を早めます。</a:t>
            </a:r>
          </a:p>
          <a:p>
            <a:r>
              <a:t>• 削減時間・削減率は未確定で、効果を計測中です。</a:t>
            </a:r>
          </a:p>
          <a:p/>
          <a:p>
            <a:r>
              <a:t>公開参照: 評価コストの計測</a:t>
            </a:r>
          </a:p>
          <a:p>
            <a:r>
              <a:t>https://tako-chan0511.github.io/vive-with-gemini/ai-agile-vive-with-gemini-5-3.html#%E8%A9%95%E4%BE%A1%E3%82%B3%E3%82%B9%E3%83%88%E3%81%AE%E4%BD%8E%E6%B8%9B%E3%82%92%E8%A8%88%E6%B8%AC%E3%81%99%E3%82%8B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20/24｜目安 11:15</a:t>
            </a:r>
          </a:p>
          <a:p>
            <a:r>
              <a:t>停止点: 1週間スプリントはここまで</a:t>
            </a:r>
          </a:p>
          <a:p/>
          <a:p>
            <a:r>
              <a:t>話す要点:</a:t>
            </a:r>
          </a:p>
          <a:p>
            <a:r>
              <a:t>• 要望・課題・調査・実装・改善はGitLab Issueを正として管理します。</a:t>
            </a:r>
          </a:p>
          <a:p>
            <a:r>
              <a:t>• 背景、受入条件、完了条件、Merge Request、検証結果をつなぎます。</a:t>
            </a:r>
          </a:p>
          <a:p>
            <a:r>
              <a:t>• 1週間スプリントで毎週、検証結果か動く成果物を示します。</a:t>
            </a:r>
          </a:p>
          <a:p>
            <a:r>
              <a:t>• AIはIssue分割やテスト観点を支援し、成果物の最終判断は人が担います。</a:t>
            </a:r>
          </a:p>
          <a:p/>
          <a:p>
            <a:r>
              <a:t>公開参照: 1週間スプリント</a:t>
            </a:r>
          </a:p>
          <a:p>
            <a:r>
              <a:t>https://tako-chan0511.github.io/vive-with-gemini/ai-agile-vive-with-gemini-5-3.html#_5%EF%B8%8F%E2%83%A3-gitlab-issue%E3%82%92%E5%88%A9%E7%94%A8%E3%81%97%E3%81%9F1%E9%80%B1%E9%96%93%E3%82%B9%E3%83%95%E3%82%9A%E3%83%AA%E3%83%B3%E3%83%88</a:t>
            </a:r>
          </a:p>
          <a:p>
            <a:r>
              <a:t>関連する公式資料:</a:t>
            </a:r>
          </a:p>
          <a:p>
            <a:r>
              <a:t>• GitLab Iterations: https://docs.gitlab.com/user/group/iterations/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21/24｜目安 12:00</a:t>
            </a:r>
          </a:p>
          <a:p>
            <a:r>
              <a:t>停止点: 全体のフィードバックループはここまで</a:t>
            </a:r>
          </a:p>
          <a:p/>
          <a:p>
            <a:r>
              <a:t>話す要点:</a:t>
            </a:r>
          </a:p>
          <a:p>
            <a:r>
              <a:t>• ユーザー対話をGitLab Issueへ整理します。</a:t>
            </a:r>
          </a:p>
          <a:p>
            <a:r>
              <a:t>• AI支援で設計・実装し、人がレビュー・承認します。</a:t>
            </a:r>
          </a:p>
          <a:p>
            <a:r>
              <a:t>• 閉域MaaSで実行・計測し、GuideLLMで性能比較します。</a:t>
            </a:r>
          </a:p>
          <a:p>
            <a:r>
              <a:t>• 人が次の改善を判断し、学びを次のIssueへ戻します。</a:t>
            </a:r>
          </a:p>
          <a:p/>
          <a:p>
            <a:r>
              <a:t>公開参照: 4本柱のループ</a:t>
            </a:r>
          </a:p>
          <a:p>
            <a:r>
              <a:t>https://tako-chan0511.github.io/vive-with-gemini/ai-agile-vive-with-gemini-5-3.html#_6%EF%B8%8F%E2%83%A3-4%E6%9C%AC%E6%9F%B1%E3%82%921%E3%81%A4%E3%81%AE%E3%83%95%E3%82%A3%E3%83%BC%E3%83%88%E3%82%99%E3%83%8F%E3%82%99%E3%83%83%E3%82%AF%E3%83%AB%E3%83%BC%E3%83%95%E3%82%9A%E3%81%B8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22/24｜目安 12:45</a:t>
            </a:r>
          </a:p>
          <a:p>
            <a:r>
              <a:t>停止点: ROI最大化の説明はここまで</a:t>
            </a:r>
          </a:p>
          <a:p/>
          <a:p>
            <a:r>
              <a:t>話す要点:</a:t>
            </a:r>
          </a:p>
          <a:p>
            <a:r>
              <a:t>• ここでのROI最大化は厳密な財務指標ではなく、Vive with Geminiの方言です。</a:t>
            </a:r>
          </a:p>
          <a:p>
            <a:r>
              <a:t>• 価値は速度だけでなく品質、再現性、提供速度、GPU効率、判断速度を含みます。</a:t>
            </a:r>
          </a:p>
          <a:p>
            <a:r>
              <a:t>• 総コストは料金だけでなく手作業、待ち、確認、再作業、運用負荷を含みます。</a:t>
            </a:r>
          </a:p>
          <a:p>
            <a:r>
              <a:t>• 財務式で断定せず、各指標の変化を継続確認します。</a:t>
            </a:r>
          </a:p>
          <a:p/>
          <a:p>
            <a:r>
              <a:t>公開参照: ROI最大化の定義</a:t>
            </a:r>
          </a:p>
          <a:p>
            <a:r>
              <a:t>https://tako-chan0511.github.io/vive-with-gemini/ai-agile-vive-with-gemini-5-3.html#_7%EF%B8%8F%E2%83%A3-vive-with-gemini%E3%81%AE-%E6%96%B9%E8%A8%80-%E3%80%8Croi%E6%9C%80%E5%A4%A7%E5%8C%96%E3%80%8D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23/24｜目安 13:05</a:t>
            </a:r>
          </a:p>
          <a:p>
            <a:r>
              <a:t>停止点: KPIはここまで</a:t>
            </a:r>
          </a:p>
          <a:p/>
          <a:p>
            <a:r>
              <a:t>話す要点:</a:t>
            </a:r>
          </a:p>
          <a:p>
            <a:r>
              <a:t>• 示すのは現在値や確定効果ではなく、今後継続して追う代表KPIです。</a:t>
            </a:r>
          </a:p>
          <a:p>
            <a:r>
              <a:t>• レポート所要時間、評価済みモデル数、GPU利用率と待ち時間、応答時間、要望反映期間を追います。</a:t>
            </a:r>
          </a:p>
          <a:p>
            <a:r>
              <a:t>• 測定条件をそろえて比較します。</a:t>
            </a:r>
          </a:p>
          <a:p>
            <a:r>
              <a:t>• AI単独の効果とせず、スクラム・作業分割・基盤改善を含むチーム全体の変化として評価します。</a:t>
            </a:r>
          </a:p>
          <a:p/>
          <a:p>
            <a:r>
              <a:t>公開参照: 代表KPI</a:t>
            </a:r>
          </a:p>
          <a:p>
            <a:r>
              <a:t>https://tako-chan0511.github.io/vive-with-gemini/ai-agile-vive-with-gemini-5-3.html#_8%EF%B8%8F%E2%83%A3-%E4%BB%A3%E8%A1%A8kpi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24/24｜目安 13:35</a:t>
            </a:r>
          </a:p>
          <a:p>
            <a:r>
              <a:t>停止点: 画面を結びに合わせ、ここで一呼吸</a:t>
            </a:r>
          </a:p>
          <a:p/>
          <a:p>
            <a:r>
              <a:t>話す要点:</a:t>
            </a:r>
          </a:p>
          <a:p>
            <a:r>
              <a:t>• AI利用領域と閉域領域を分け、人が判断と責任を担います。</a:t>
            </a:r>
          </a:p>
          <a:p>
            <a:r>
              <a:t>• Kong、OpenShift／Kubernetes、GPUの責任を分けます。</a:t>
            </a:r>
          </a:p>
          <a:p>
            <a:r>
              <a:t>• GuideLLMとExcelで性能評価を同じ手順へそろえ、1週間スプリントで次へ返します。</a:t>
            </a:r>
          </a:p>
          <a:p>
            <a:r>
              <a:t>• AI・人・プラットフォーム・評価データが学び続けるループでROI最大化を目指します。</a:t>
            </a:r>
          </a:p>
          <a:p/>
          <a:p>
            <a:r>
              <a:t>公開参照: 結び</a:t>
            </a:r>
          </a:p>
          <a:p>
            <a:r>
              <a:t>https://tako-chan0511.github.io/vive-with-gemini/ai-agile-vive-with-gemini-5-3.html#%F0%9F%92%AC-%E7%B5%90%E3%81%B2%E3%82%99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25/25｜目安 14:10</a:t>
            </a:r>
          </a:p>
          <a:p>
            <a:r>
              <a:t>停止点: 最後に持ち帰ってほしい行動原則</a:t>
            </a:r>
          </a:p>
          <a:p>
            <a:r>
              <a:t>話す要点:</a:t>
            </a:r>
          </a:p>
          <a:p>
            <a:r>
              <a:t>• 今日お伝えしたかったのは、AIに仕事を丸ごと渡すことではありません。</a:t>
            </a:r>
          </a:p>
          <a:p>
            <a:r>
              <a:t>• 作業と提案をAIへ任せ、目的・境界・判断・責任を人が持ちます。</a:t>
            </a:r>
          </a:p>
          <a:p>
            <a:r>
              <a:t>• 小さく試し、証拠で確かめ、学びを次のIssueへ返します。</a:t>
            </a:r>
          </a:p>
          <a:p>
            <a:r>
              <a:t>• この反復を人・AI・基盤・評価データで回し続けることが、Vive with Geminiの実践です。</a:t>
            </a:r>
          </a:p>
          <a:p/>
          <a:p>
            <a:r>
              <a:t>公開参照: 今回伝えたかったこと</a:t>
            </a:r>
          </a:p>
          <a:p>
            <a:r>
              <a:t>https://tako-chan0511.github.io/vive-with-gemini/ai-agile-vive-with-gemini-5-1.html#_6-%E4%BC%9D%E3%81%88%E3%81%9F%E3%81%84%E3%81%93%E3%81%A8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ako-chan0511.github.io/vive-with-gemini/ai-agile-vive-with-gemini-5.html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ako-chan0511.github.io/vive-with-gemini/ai-agile-vive-with-gemini-5.html#%E5%8E%9F-%E6%A1%82%E4%BB%8B-keisuke-hara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ako-chan0511.github.io/vive-with-gemini/ai-agile-vive-with-gemini-5.html#%E6%9C%AC%E6%97%A5%E3%81%AE%E6%B5%81%E3%82%8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tako-chan0511.github.io/vive-with-gemini/ai-agile-vive-with-gemini-5-1.html#_1-%E3%81%AA%E3%81%9B%E3%82%99%E3%83%95%E3%82%A3%E3%83%BC%E3%83%88%E3%82%99%E3%83%8F%E3%82%99%E3%83%83%E3%82%AF%E3%83%AB%E3%83%BC%E3%83%95%E3%82%9A%E3%81%AA%E3%81%AE%E3%81%8B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ako-chan0511.github.io/vive-with-gemini/ai-agile-vive-with-gemini-5-1.html#_2-%E3%80%8C%E7%9B%B8%E6%A3%92%E3%80%8D%E3%81%A8%E3%81%AF%E4%BD%95%E3%81%8B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tako-chan0511.github.io/vive-with-gemini/ai-agile-vive-with-gemini-5-1.html#%E8%87%AA%E7%84%B6%E7%99%BA%E7%94%9F%E3%82%A2%E3%82%B7%E3%82%99%E3%83%A3%E3%82%A4%E3%83%AB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tako-chan0511.github.io/vive-with-gemini/ai-agile-vive-with-gemini-5-2.html#_1-%E5%AE%9F%E8%B7%B5%E3%81%AE%E5%89%8D%E6%8F%90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tako-chan0511.github.io/vive-with-gemini/ai-agile-vive-with-gemini-5-2.html#_2-ai%E6%B4%BB%E7%94%A8%E3%82%92%E6%94%AF%E3%81%88%E3%82%8B%E3%80%8C%E6%9E%A0%E7%B5%84%E3%81%BF%E3%80%8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tako-chan0511.github.io/vive-with-gemini/ai-agile-vive-with-gemini-5-2.html#_4-ai%E3%81%A8%E8%87%AA%E5%8B%95%E5%8C%96%E3%81%A6%E3%82%99%E3%83%95%E3%82%A3%E3%83%BC%E3%83%88%E3%82%99%E3%83%8F%E3%82%99%E3%83%83%E3%82%AF%E3%82%92%E9%80%9F%E3%81%8F%E3%81%99%E3%82%8B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tako-chan0511.github.io/vive-with-gemini/ai-agile-vive-with-gemini-5-3.html#now-%E9%96%89%E5%9F%9F%E7%92%B0%E5%A2%83%E5%90%91%E3%81%91%E3%81%8A%E5%AE%A2%E6%A7%98%E7%A4%BE%E5%86%85maas-%E3%83%A2%E3%83%86%E3%82%99%E3%83%AB%E6%8F%90%E4%BE%9B%E3%82%B5%E3%83%BC%E3%83%92%E3%82%99%E3%82%B9-%E5%9F%BA%E7%9B%A4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tako-chan0511.github.io/vive-with-gemini/ai-agile-vive-with-gemini-5-3.html#_1%EF%B8%8F%E2%83%A3-ai%E5%88%A9%E7%94%A8%E9%A0%98%E5%9F%9F%E3%81%A8%E9%96%89%E5%9F%9F%E9%A0%98%E5%9F%9F%E3%82%92%E5%88%86%E9%9B%A2%E3%81%99%E3%82%8B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tako-chan0511.github.io/vive-with-gemini/ai-agile-vive-with-gemini-5-3.html#_3%EF%B8%8F%E2%83%A3-kong%E3%80%81openshift-kubernetes%E3%80%81gpu%E3%81%AE%E8%B2%AC%E4%BB%BB%E3%82%92%E5%88%86%E3%81%91%E3%82%8B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tako-chan0511.github.io/vive-with-gemini/ai-agile-vive-with-gemini-5-3.html#_4%EF%B8%8F%E2%83%A3-%E5%A4%9A%E6%A7%98%E3%81%AA%E3%83%A2%E3%83%86%E3%82%99%E3%83%AB%E3%82%92%E7%9F%AD%E6%99%82%E9%96%93%E3%81%A6%E3%82%99%E6%AF%94%E8%BC%83%E3%81%99%E3%82%8B%E6%80%A7%E8%83%BD%E3%83%98%E3%82%99%E3%83%B3%E3%83%81%E3%83%9E%E3%83%BC%E3%82%AF%E8%87%AA%E5%8B%95%E5%8C%96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tako-chan0511.github.io/vive-with-gemini/ai-agile-vive-with-gemini-5-3.html#%E5%85%A5%E5%8A%9B1-guidellm%E5%81%B4%E3%81%AE%E8%B2%A0%E8%8D%B7%E6%9D%A1%E4%BB%B6%E3%82%92%E5%A4%89%E3%81%88%E3%82%8B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tako-chan0511.github.io/vive-with-gemini/ai-agile-vive-with-gemini-5-3.html#%E6%A8%A9%E9%99%90%E3%82%92%E6%8C%81%E3%81%A4%E7%A4%BE%E5%86%85%E5%88%A9%E7%94%A8%E8%80%85%E3%81%8B%E3%82%99%E5%90%8C%E3%81%97%E3%82%99%E6%89%8B%E9%A0%86%E3%81%A6%E3%82%99%E5%AE%9F%E8%A1%8C%E3%81%99%E3%82%8B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tako-chan0511.github.io/vive-with-gemini/ai-agile-vive-with-gemini-5-3.html#%E8%A9%95%E4%BE%A1%E3%83%86%E3%82%99%E3%83%BC%E3%82%BF%E3%82%92%E4%BF%9D%E5%AD%98%E3%81%97%E3%80%81copilot-agent%E3%81%A6%E3%82%99%E8%A9%95%E4%BE%A1%E3%83%95%E3%82%99%E3%83%83%E3%82%AF%E3%82%92%E4%BD%9C%E6%88%90%E3%81%99%E3%82%8B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tako-chan0511.github.io/vive-with-gemini/ai-agile-vive-with-gemini-5-3.html#maas%E6%80%A7%E8%83%BD%E3%83%98%E3%82%99%E3%83%B3%E3%83%81%E3%83%9E%E3%83%BC%E3%82%AF%E3%83%BB%E5%88%86%E6%9E%90%E3%81%AE%E8%87%AA%E5%8B%95%E5%8C%96%E3%83%95%E3%83%AD%E3%83%BC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tako-chan0511.github.io/vive-with-gemini/ai-agile-vive-with-gemini-5-3.html#guidellm%E7%B5%90%E6%9E%9C%E3%81%A8vllm%E3%83%BB%E5%9F%BA%E7%9B%A4%E3%83%A1%E3%83%88%E3%83%AA%E3%82%AF%E3%82%B9%E3%81%AE%E7%AA%81%E3%81%8D%E5%90%88%E3%82%8F%E3%81%9B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tako-chan0511.github.io/vive-with-gemini/ai-agile-vive-with-gemini-5-3.html#%E8%A9%95%E4%BE%A1%E3%82%B3%E3%82%B9%E3%83%88%E3%81%AE%E4%BD%8E%E6%B8%9B%E3%82%92%E8%A8%88%E6%B8%AC%E3%81%99%E3%82%8B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tako-chan0511.github.io/vive-with-gemini/ai-agile-vive-with-gemini-5-3.html#_5%EF%B8%8F%E2%83%A3-gitlab-issue%E3%82%92%E5%88%A9%E7%94%A8%E3%81%97%E3%81%9F1%E9%80%B1%E9%96%93%E3%82%B9%E3%83%95%E3%82%9A%E3%83%AA%E3%83%B3%E3%83%88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tako-chan0511.github.io/vive-with-gemini/ai-agile-vive-with-gemini-5-3.html#_6%EF%B8%8F%E2%83%A3-4%E6%9C%AC%E6%9F%B1%E3%82%921%E3%81%A4%E3%81%AE%E3%83%95%E3%82%A3%E3%83%BC%E3%83%88%E3%82%99%E3%83%8F%E3%82%99%E3%83%83%E3%82%AF%E3%83%AB%E3%83%BC%E3%83%95%E3%82%9A%E3%81%B8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tako-chan0511.github.io/vive-with-gemini/ai-agile-vive-with-gemini-5-3.html#_7%EF%B8%8F%E2%83%A3-vive-with-gemini%E3%81%AE-%E6%96%B9%E8%A8%80-%E3%80%8Croi%E6%9C%80%E5%A4%A7%E5%8C%96%E3%80%8D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tako-chan0511.github.io/vive-with-gemini/ai-agile-vive-with-gemini-5-3.html#_8%EF%B8%8F%E2%83%A3-%E4%BB%A3%E8%A1%A8kpi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tako-chan0511.github.io/vive-with-gemini/ai-agile-vive-with-gemini-5-3.html#%F0%9F%92%AC-%E7%B5%90%E3%81%B2%E3%82%99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tako-chan0511.github.io/vive-with-gemini/ai-agile-vive-with-gemini-5-1.html#_6-%E4%BC%9D%E3%81%88%E3%81%9F%E3%81%84%E3%81%93%E3%81%A8" TargetMode="Externa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20624"/>
            <a:ext cx="2176272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0936" y="420624"/>
            <a:ext cx="21031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AI開発事例発表会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754380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100" b="1">
                <a:solidFill>
                  <a:srgbClr val="FFFFFF"/>
                </a:solidFill>
                <a:latin typeface="Yu Gothic"/>
              </a:defRPr>
            </a:pPr>
            <a:r>
              <a:t>AIは「道具」でなく「相棒」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21992"/>
            <a:ext cx="690372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900" b="1">
                <a:solidFill>
                  <a:srgbClr val="FF9F43"/>
                </a:solidFill>
                <a:latin typeface="Yu Gothic"/>
              </a:defRPr>
            </a:pPr>
            <a:r>
              <a:t>AIが提案し、人が決める。</a:t>
            </a:r>
          </a:p>
        </p:txBody>
      </p:sp>
      <p:sp>
        <p:nvSpPr>
          <p:cNvPr id="6" name="Oval 5"/>
          <p:cNvSpPr/>
          <p:nvPr/>
        </p:nvSpPr>
        <p:spPr>
          <a:xfrm>
            <a:off x="1485899" y="3296412"/>
            <a:ext cx="1234440" cy="12344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40763" y="3332988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</a:p>
        </p:txBody>
      </p:sp>
      <p:sp>
        <p:nvSpPr>
          <p:cNvPr id="8" name="Oval 7"/>
          <p:cNvSpPr/>
          <p:nvPr/>
        </p:nvSpPr>
        <p:spPr>
          <a:xfrm>
            <a:off x="5490972" y="3296412"/>
            <a:ext cx="1234440" cy="123444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45836" y="3332988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Yu Gothic"/>
              </a:defRPr>
            </a:pPr>
            <a:r>
              <a:t>AI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3639312"/>
            <a:ext cx="2450592" cy="0"/>
          </a:xfrm>
          <a:prstGeom prst="line">
            <a:avLst/>
          </a:prstGeom>
          <a:ln w="381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5248656" y="355701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2880360" y="4178808"/>
            <a:ext cx="2450592" cy="0"/>
          </a:xfrm>
          <a:prstGeom prst="line">
            <a:avLst/>
          </a:prstGeom>
          <a:ln w="3810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6200000">
            <a:off x="2798064" y="4096512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40" y="3685032"/>
            <a:ext cx="1389888" cy="347472"/>
          </a:xfrm>
          <a:prstGeom prst="roundRect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3685032"/>
            <a:ext cx="131673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対 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85632" y="1005840"/>
            <a:ext cx="2999232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1280160"/>
            <a:ext cx="226771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0B1F33"/>
                </a:solidFill>
                <a:latin typeface="Yu Gothic"/>
              </a:defRPr>
            </a:pPr>
            <a:r>
              <a:t>第5章を公開</a:t>
            </a:r>
          </a:p>
        </p:txBody>
      </p:sp>
      <p:pic>
        <p:nvPicPr>
          <p:cNvPr id="18" name="Picture 17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984" y="1828800"/>
            <a:ext cx="1956816" cy="19568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59952" y="3977639"/>
            <a:ext cx="2450592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0B1F33"/>
                </a:solidFill>
                <a:latin typeface="Yu Gothic"/>
              </a:defRPr>
            </a:pPr>
            <a:r>
              <a:t>プレゼン中も</a:t>
            </a:r>
            <a:br/>
            <a:r>
              <a:t>詳しい本文を参照できます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892040"/>
            <a:ext cx="3584448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850" b="1">
                <a:solidFill>
                  <a:srgbClr val="42A5F5"/>
                </a:solidFill>
                <a:latin typeface="Yu Gothic"/>
              </a:defRPr>
            </a:pPr>
            <a:r>
              <a:rPr>
                <a:hlinkClick r:id="rId3"/>
              </a:rPr>
              <a:t>https://tako-chan0511.github.io/vive-with-gemini/ai-agile-vive-with-gemini-5.html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01  •  0:25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6382512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原 桂介  •  Vive with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64歳から、26の試作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2881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500313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10625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738057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114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429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64歳から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858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173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AI対話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602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917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26アプリ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未経験でも、AIとの対話で学びと試作を止めずに進められる。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02  •  0:50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0" name="TextBox 19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WHY → HOW → NOW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2881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500313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10625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738057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114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429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WHY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858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173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HOW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602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917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NOW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考え方、開発実践、閉域MaaSの現在地を一本のループでつなぐ。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03  •  1:10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0" name="TextBox 19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価値は、フィードバックで決まる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51658" y="2197627"/>
            <a:ext cx="1491248" cy="1124818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7621592">
            <a:off x="7960610" y="3240149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4284257" y="3707891"/>
            <a:ext cx="3702733" cy="1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6200000">
            <a:off x="4201961" y="362559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4096788" y="2241678"/>
            <a:ext cx="1491247" cy="1124818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3178408">
            <a:off x="5505739" y="2159382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試す</a:t>
            </a:r>
          </a:p>
        </p:txBody>
      </p:sp>
      <p:sp>
        <p:nvSpPr>
          <p:cNvPr id="14" name="Oval 13"/>
          <p:cNvSpPr/>
          <p:nvPr/>
        </p:nvSpPr>
        <p:spPr>
          <a:xfrm>
            <a:off x="8014422" y="3168396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9286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学ぶ</a:t>
            </a:r>
          </a:p>
        </p:txBody>
      </p:sp>
      <p:sp>
        <p:nvSpPr>
          <p:cNvPr id="16" name="Oval 15"/>
          <p:cNvSpPr/>
          <p:nvPr/>
        </p:nvSpPr>
        <p:spPr>
          <a:xfrm>
            <a:off x="3104681" y="3168396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9545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判断</a:t>
            </a:r>
          </a:p>
        </p:txBody>
      </p:sp>
      <p:sp>
        <p:nvSpPr>
          <p:cNvPr id="18" name="Oval 17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小さく試し、早く学び、次の判断へ返すほど価値は高まる。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04  •  1:40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https://tako-chan0511.github.io/vive-with-gemini/ai-agile-vive-with-gemini-5-1.html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AIは提案する。人が決める。</a:t>
            </a:r>
          </a:p>
        </p:txBody>
      </p:sp>
      <p:sp>
        <p:nvSpPr>
          <p:cNvPr id="6" name="Oval 5"/>
          <p:cNvSpPr/>
          <p:nvPr/>
        </p:nvSpPr>
        <p:spPr>
          <a:xfrm>
            <a:off x="2948939" y="2308860"/>
            <a:ext cx="1508760" cy="150876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3803" y="2345436"/>
            <a:ext cx="1399031" cy="14356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Yu Gothic"/>
              </a:defRPr>
            </a:pPr>
            <a:r>
              <a:t>AI</a:t>
            </a:r>
            <a:br/>
            <a:r>
              <a:t>提案</a:t>
            </a:r>
          </a:p>
        </p:txBody>
      </p:sp>
      <p:sp>
        <p:nvSpPr>
          <p:cNvPr id="8" name="Oval 7"/>
          <p:cNvSpPr/>
          <p:nvPr/>
        </p:nvSpPr>
        <p:spPr>
          <a:xfrm>
            <a:off x="7703820" y="2308860"/>
            <a:ext cx="1508760" cy="150876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8684" y="2345436"/>
            <a:ext cx="1399031" cy="14356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  <a:br/>
            <a:r>
              <a:t>判断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2770632"/>
            <a:ext cx="2862072" cy="0"/>
          </a:xfrm>
          <a:prstGeom prst="line">
            <a:avLst/>
          </a:prstGeom>
          <a:ln w="381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7397496" y="268833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4617720" y="3401568"/>
            <a:ext cx="2862072" cy="0"/>
          </a:xfrm>
          <a:prstGeom prst="line">
            <a:avLst/>
          </a:prstGeom>
          <a:ln w="3810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6200000">
            <a:off x="4535424" y="3319272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48072" y="2852928"/>
            <a:ext cx="1874519" cy="347472"/>
          </a:xfrm>
          <a:prstGeom prst="roundRect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852928"/>
            <a:ext cx="180136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短い対話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AIを工程へ組み込み、判断と責任は人に残す。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05  •  2:10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0" name="TextBox 19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https://tako-chan0511.github.io/vive-with-gemini/ai-agile-vive-with-gemini-5-1.html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アジャイルは、後からついてきた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51658" y="2197627"/>
            <a:ext cx="1491248" cy="1124818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7621592">
            <a:off x="7960610" y="3240149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4284257" y="3707891"/>
            <a:ext cx="3702733" cy="1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6200000">
            <a:off x="4201961" y="362559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4096788" y="2241678"/>
            <a:ext cx="1491247" cy="1124818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3178408">
            <a:off x="5505739" y="2159382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透明性</a:t>
            </a:r>
          </a:p>
        </p:txBody>
      </p:sp>
      <p:sp>
        <p:nvSpPr>
          <p:cNvPr id="14" name="Oval 13"/>
          <p:cNvSpPr/>
          <p:nvPr/>
        </p:nvSpPr>
        <p:spPr>
          <a:xfrm>
            <a:off x="8014422" y="3168396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9286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検査</a:t>
            </a:r>
          </a:p>
        </p:txBody>
      </p:sp>
      <p:sp>
        <p:nvSpPr>
          <p:cNvPr id="16" name="Oval 15"/>
          <p:cNvSpPr/>
          <p:nvPr/>
        </p:nvSpPr>
        <p:spPr>
          <a:xfrm>
            <a:off x="3104681" y="3168396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9545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適応</a:t>
            </a:r>
          </a:p>
        </p:txBody>
      </p:sp>
      <p:sp>
        <p:nvSpPr>
          <p:cNvPr id="18" name="Oval 17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短い対話と検査を重ねると、透明性・検査・適応が自然に育つ。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06  •  2:40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https://tako-chan0511.github.io/vive-with-gemini/ai-agile-vive-with-gemini-5-1.html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AIには、三重の安全網</a:t>
            </a:r>
          </a:p>
        </p:txBody>
      </p:sp>
      <p:sp>
        <p:nvSpPr>
          <p:cNvPr id="6" name="Hexagon 5"/>
          <p:cNvSpPr/>
          <p:nvPr/>
        </p:nvSpPr>
        <p:spPr>
          <a:xfrm>
            <a:off x="1874519" y="2057400"/>
            <a:ext cx="2240280" cy="1874519"/>
          </a:xfrm>
          <a:prstGeom prst="hexagon">
            <a:avLst/>
          </a:prstGeom>
          <a:solidFill>
            <a:srgbClr val="15344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87752" y="2157984"/>
            <a:ext cx="82296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>
                <a:solidFill>
                  <a:srgbClr val="42A5F5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743200"/>
            <a:ext cx="1874519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規約</a:t>
            </a:r>
          </a:p>
        </p:txBody>
      </p:sp>
      <p:sp>
        <p:nvSpPr>
          <p:cNvPr id="9" name="Hexagon 8"/>
          <p:cNvSpPr/>
          <p:nvPr/>
        </p:nvSpPr>
        <p:spPr>
          <a:xfrm>
            <a:off x="5029200" y="2057400"/>
            <a:ext cx="2240280" cy="1874519"/>
          </a:xfrm>
          <a:prstGeom prst="hexagon">
            <a:avLst/>
          </a:prstGeom>
          <a:solidFill>
            <a:srgbClr val="15344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432" y="2157984"/>
            <a:ext cx="82296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>
                <a:solidFill>
                  <a:srgbClr val="FF9F43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743200"/>
            <a:ext cx="1874519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自動テスト</a:t>
            </a:r>
          </a:p>
        </p:txBody>
      </p:sp>
      <p:sp>
        <p:nvSpPr>
          <p:cNvPr id="12" name="Hexagon 11"/>
          <p:cNvSpPr/>
          <p:nvPr/>
        </p:nvSpPr>
        <p:spPr>
          <a:xfrm>
            <a:off x="8183879" y="2057400"/>
            <a:ext cx="2240280" cy="1874519"/>
          </a:xfrm>
          <a:prstGeom prst="hexagon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7111" y="2157984"/>
            <a:ext cx="82296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>
                <a:solidFill>
                  <a:srgbClr val="4CD97B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743200"/>
            <a:ext cx="1874519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人の確認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151376"/>
            <a:ext cx="37033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AFC4D6"/>
                </a:solidFill>
                <a:latin typeface="Yu Gothic"/>
              </a:defRPr>
            </a:pPr>
            <a:r>
              <a:t>もっともらしい誤り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規約・自動テスト・人の確認で、もっともらしい誤りを制御する。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07  •  3:10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0" name="TextBox 19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https://tako-chan0511.github.io/vive-with-gemini/ai-agile-vive-with-gemini-5-2.html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型を渡し、小さく回す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6869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404301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91753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619185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66379" y="3044952"/>
            <a:ext cx="356616" cy="0"/>
          </a:xfrm>
          <a:prstGeom prst="line">
            <a:avLst/>
          </a:prstGeom>
          <a:ln w="3048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8340699" y="2962656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962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277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846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161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実装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730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045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テスト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9614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929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確認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二つのルールを渡し、設計→実装→テスト→確認を短く反復する。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08  •  4:05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https://tako-chan0511.github.io/vive-with-gemini/ai-agile-vive-with-gemini-5-2.html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結果を、すぐ次へ返す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18827" y="2082587"/>
            <a:ext cx="1728013" cy="752522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6811941">
            <a:off x="8264544" y="2752813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6685895" y="3317027"/>
            <a:ext cx="1728013" cy="752522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4788059">
            <a:off x="6603599" y="3987253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3851255" y="3346234"/>
            <a:ext cx="1728013" cy="752522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7611941">
            <a:off x="3768959" y="3263938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3784187" y="2111794"/>
            <a:ext cx="1728013" cy="752522"/>
          </a:xfrm>
          <a:prstGeom prst="line">
            <a:avLst/>
          </a:prstGeom>
          <a:ln w="2286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3988059">
            <a:off x="5429904" y="2029498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16" name="Oval 15"/>
          <p:cNvSpPr/>
          <p:nvPr/>
        </p:nvSpPr>
        <p:spPr>
          <a:xfrm>
            <a:off x="8394192" y="2551176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58775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実装</a:t>
            </a:r>
          </a:p>
        </p:txBody>
      </p:sp>
      <p:sp>
        <p:nvSpPr>
          <p:cNvPr id="18" name="Oval 17"/>
          <p:cNvSpPr/>
          <p:nvPr/>
        </p:nvSpPr>
        <p:spPr>
          <a:xfrm>
            <a:off x="5559552" y="3785616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382219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テスト</a:t>
            </a:r>
          </a:p>
        </p:txBody>
      </p:sp>
      <p:sp>
        <p:nvSpPr>
          <p:cNvPr id="20" name="Oval 19"/>
          <p:cNvSpPr/>
          <p:nvPr/>
        </p:nvSpPr>
        <p:spPr>
          <a:xfrm>
            <a:off x="2724912" y="2551176"/>
            <a:ext cx="1078992" cy="10789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58775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人の判断</a:t>
            </a:r>
          </a:p>
        </p:txBody>
      </p:sp>
      <p:sp>
        <p:nvSpPr>
          <p:cNvPr id="22" name="Oval 21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工程を切り離さず、得た学びを同じループへ戻す。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09  •  4:30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8" name="TextBox 27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https://tako-chan0511.github.io/vive-with-gemini/ai-agile-vive-with-gemini-5-2.html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閉域MaaSは、4本柱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258568"/>
            <a:ext cx="2057400" cy="1874519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1368" y="2368296"/>
            <a:ext cx="7315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42A5F5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2916935"/>
            <a:ext cx="1801368" cy="11247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AI協働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38527"/>
            <a:ext cx="2057400" cy="219456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2048255"/>
            <a:ext cx="7315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FF9F43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5" y="2596896"/>
            <a:ext cx="1801368" cy="1444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MaaS基盤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58568"/>
            <a:ext cx="2057400" cy="1874519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2368296"/>
            <a:ext cx="7315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4CD97B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916935"/>
            <a:ext cx="1801368" cy="11247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性能評価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938527"/>
            <a:ext cx="2057400" cy="219456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5168" y="2048255"/>
            <a:ext cx="7315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A78BFA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2596896"/>
            <a:ext cx="1801368" cy="1444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1週間Sprint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4187952"/>
            <a:ext cx="3657600" cy="347472"/>
          </a:xfrm>
          <a:prstGeom prst="roundRect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4187952"/>
            <a:ext cx="358444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1つの価値提供ループ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AI協働・実行基盤・性能評価・1週間スプリントを一つにつなぐ。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10  •  5:05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AIを使う領域と、守る領域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4069080" cy="233172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24927" y="1965960"/>
            <a:ext cx="4069080" cy="233172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34290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300" b="1">
                <a:solidFill>
                  <a:srgbClr val="42A5F5"/>
                </a:solidFill>
                <a:latin typeface="Yu Gothic"/>
              </a:defRPr>
            </a:pPr>
            <a:r>
              <a:t>承認済み領域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33375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Copilot / 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304288"/>
            <a:ext cx="34290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300" b="1">
                <a:solidFill>
                  <a:srgbClr val="4CD97B"/>
                </a:solidFill>
                <a:latin typeface="Yu Gothic"/>
              </a:defRPr>
            </a:pPr>
            <a:r>
              <a:t>閉域領域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154680"/>
            <a:ext cx="33375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閉域MaaS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331720"/>
            <a:ext cx="1783080" cy="155448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4" y="2542032"/>
            <a:ext cx="1490472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Yu Gothic"/>
              </a:defRPr>
            </a:pPr>
            <a:r>
              <a:t>人が</a:t>
            </a:r>
            <a:br/>
            <a:r>
              <a:t>レビュー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3108960"/>
            <a:ext cx="338328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5056632" y="3026664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059168" y="3108960"/>
            <a:ext cx="292607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7269479" y="3026664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133087"/>
            <a:ext cx="24231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Yu Gothic"/>
              </a:defRPr>
            </a:pPr>
            <a:r>
              <a:t>直接接続しない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承認済み成果物だけを、人のレビューを経て閉域へ渡す。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11  •  5:35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3" name="TextBox 22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入口・実行・GPUを分ける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2881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500313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10625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738057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114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429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Kong</a:t>
            </a:r>
            <a:br/>
            <a:r>
              <a:t>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858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173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OpenShift</a:t>
            </a:r>
            <a:br/>
            <a:r>
              <a:t>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602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917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GPU</a:t>
            </a:r>
            <a:br/>
            <a:r>
              <a:t>計算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Kongは入口、OpenShiftは配置、GPUは計算を担う。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12  •  6:00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0" name="TextBox 19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速さと、賢さを混ぜない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2057400"/>
            <a:ext cx="3337560" cy="201168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68312" y="2057400"/>
            <a:ext cx="3337560" cy="201168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2395728"/>
            <a:ext cx="27889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4CD97B"/>
                </a:solidFill>
                <a:latin typeface="Yu Gothic"/>
              </a:defRPr>
            </a:pPr>
            <a:r>
              <a:t>性能評価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246120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AFC4D6"/>
                </a:solidFill>
                <a:latin typeface="Yu Gothic"/>
              </a:defRPr>
            </a:pPr>
            <a:r>
              <a:t>Throughput /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423160"/>
            <a:ext cx="1307592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  <a:latin typeface="Yu Gothic"/>
              </a:defRPr>
            </a:pPr>
            <a:r>
              <a:t>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2631" y="2395728"/>
            <a:ext cx="27889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A78BFA"/>
                </a:solidFill>
                <a:latin typeface="Yu Gothic"/>
              </a:defRPr>
            </a:pPr>
            <a:r>
              <a:t>回答品質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1" y="3246120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AFC4D6"/>
                </a:solidFill>
                <a:latin typeface="Yu Gothic"/>
              </a:defRPr>
            </a:pPr>
            <a:r>
              <a:t>正確性 / 安全性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GuideLLMで測るのは性能。回答品質は別に評価する。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13  •  6:30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17" name="TextBox 16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変えるのは、2つ</a:t>
            </a:r>
          </a:p>
        </p:txBody>
      </p:sp>
      <p:sp>
        <p:nvSpPr>
          <p:cNvPr id="6" name="Oval 5"/>
          <p:cNvSpPr/>
          <p:nvPr/>
        </p:nvSpPr>
        <p:spPr>
          <a:xfrm>
            <a:off x="1348739" y="1714499"/>
            <a:ext cx="1234440" cy="123444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3604" y="1751075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GuideLLM</a:t>
            </a:r>
            <a:br/>
            <a:r>
              <a:t>負荷</a:t>
            </a:r>
          </a:p>
        </p:txBody>
      </p:sp>
      <p:sp>
        <p:nvSpPr>
          <p:cNvPr id="8" name="Oval 7"/>
          <p:cNvSpPr/>
          <p:nvPr/>
        </p:nvSpPr>
        <p:spPr>
          <a:xfrm>
            <a:off x="1348739" y="3177540"/>
            <a:ext cx="1234440" cy="1234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3604" y="3214116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vLLM</a:t>
            </a:r>
            <a:br/>
            <a:r>
              <a:t>設定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441448"/>
            <a:ext cx="2240280" cy="141732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1783080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4CD97B"/>
                </a:solidFill>
                <a:latin typeface="Yu Gothic"/>
              </a:defRPr>
            </a:pPr>
            <a:r>
              <a:t>MaaS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938528"/>
            <a:ext cx="2240280" cy="822960"/>
          </a:xfrm>
          <a:prstGeom prst="roundRect">
            <a:avLst/>
          </a:prstGeom>
          <a:solidFill>
            <a:srgbClr val="15344F"/>
          </a:solidFill>
          <a:ln w="2032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084831"/>
            <a:ext cx="1874519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4CD97B"/>
                </a:solidFill>
                <a:latin typeface="Yu Gothic"/>
              </a:defRPr>
            </a:pPr>
            <a:r>
              <a:t>性能結果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493008"/>
            <a:ext cx="2240280" cy="822960"/>
          </a:xfrm>
          <a:prstGeom prst="roundRect">
            <a:avLst/>
          </a:prstGeom>
          <a:solidFill>
            <a:srgbClr val="15344F"/>
          </a:solidFill>
          <a:ln w="2032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639312"/>
            <a:ext cx="1874519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4DD0E1"/>
                </a:solidFill>
                <a:latin typeface="Yu Gothic"/>
              </a:defRPr>
            </a:pPr>
            <a:r>
              <a:t>基盤メトリクス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912" y="2423160"/>
            <a:ext cx="1737360" cy="41148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6199472">
            <a:off x="4379976" y="2752344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2724912" y="3456432"/>
            <a:ext cx="1737360" cy="246888"/>
          </a:xfrm>
          <a:prstGeom prst="line">
            <a:avLst/>
          </a:prstGeom>
          <a:ln w="3048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4914727">
            <a:off x="4379976" y="3374136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7022592" y="2350008"/>
            <a:ext cx="1225296" cy="512064"/>
          </a:xfrm>
          <a:prstGeom prst="line">
            <a:avLst/>
          </a:prstGeom>
          <a:ln w="3048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4039166">
            <a:off x="8165592" y="2267712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22592" y="3456432"/>
            <a:ext cx="1225296" cy="448055"/>
          </a:xfrm>
          <a:prstGeom prst="line">
            <a:avLst/>
          </a:prstGeom>
          <a:ln w="3048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6605162">
            <a:off x="8165592" y="3822191"/>
            <a:ext cx="164592" cy="164592"/>
          </a:xfrm>
          <a:prstGeom prst="triangl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GuideLLMの負荷とvLLMの設定を分け、同じ前提で比べる。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14  •  7:10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8" name="TextBox 27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誰がやっても、同じ評価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2881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500313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10625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738057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114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429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共通条件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858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173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任意／定期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602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917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モデル比較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共通テンプレートと定期実行で、比較を再現可能にする。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15  •  7:30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0" name="TextBox 19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3つの入力。1冊の評価ブック。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057400" cy="566928"/>
          </a:xfrm>
          <a:prstGeom prst="roundRect">
            <a:avLst/>
          </a:prstGeom>
          <a:solidFill>
            <a:srgbClr val="15344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7830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Excel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33472"/>
            <a:ext cx="2057400" cy="566928"/>
          </a:xfrm>
          <a:prstGeom prst="roundRect">
            <a:avLst/>
          </a:prstGeom>
          <a:solidFill>
            <a:srgbClr val="15344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7830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GuideLLM 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392424"/>
            <a:ext cx="2057400" cy="566928"/>
          </a:xfrm>
          <a:prstGeom prst="roundRect">
            <a:avLst/>
          </a:prstGeom>
          <a:solidFill>
            <a:srgbClr val="15344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56432"/>
            <a:ext cx="17830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Podログ</a:t>
            </a:r>
          </a:p>
        </p:txBody>
      </p:sp>
      <p:sp>
        <p:nvSpPr>
          <p:cNvPr id="12" name="Oval 11"/>
          <p:cNvSpPr/>
          <p:nvPr/>
        </p:nvSpPr>
        <p:spPr>
          <a:xfrm>
            <a:off x="3726179" y="2263140"/>
            <a:ext cx="1417320" cy="14173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1043" y="2299716"/>
            <a:ext cx="1307592" cy="1344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331720"/>
            <a:ext cx="2057400" cy="128016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542032"/>
            <a:ext cx="160020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900" b="1">
                <a:solidFill>
                  <a:srgbClr val="4CD97B"/>
                </a:solidFill>
                <a:latin typeface="Yu Gothic"/>
              </a:defRPr>
            </a:pPr>
            <a:r>
              <a:t>評価ブック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0" y="2377440"/>
            <a:ext cx="1188720" cy="11887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64624" y="2414016"/>
            <a:ext cx="1078992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8920" y="2971800"/>
            <a:ext cx="795528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502152" y="2889504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303520" y="2971800"/>
            <a:ext cx="1115568" cy="0"/>
          </a:xfrm>
          <a:prstGeom prst="line">
            <a:avLst/>
          </a:prstGeom>
          <a:ln w="3048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336792" y="2889504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805672" y="2971800"/>
            <a:ext cx="566928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9290304" y="2889504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58768" y="4224528"/>
            <a:ext cx="4462272" cy="347472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95344" y="4224528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作成はAgent　判断は人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3種類の入力を、Copilot Agentが共有できる評価ブックへ整える。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16  •  8:35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30" name="TextBox 29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実行から、次の条件まで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46037" y="2005261"/>
            <a:ext cx="1966167" cy="535689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6314431">
            <a:off x="8529908" y="2458654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8453091" y="3137675"/>
            <a:ext cx="405436" cy="467927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3254443">
            <a:off x="8370795" y="352330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4804232" y="4089354"/>
            <a:ext cx="2662783" cy="0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6200000">
            <a:off x="4721936" y="4007058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3387470" y="3192961"/>
            <a:ext cx="405436" cy="467927"/>
          </a:xfrm>
          <a:prstGeom prst="line">
            <a:avLst/>
          </a:prstGeom>
          <a:ln w="2286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9145557">
            <a:off x="3305174" y="3110665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515311" y="2024490"/>
            <a:ext cx="1966168" cy="535689"/>
          </a:xfrm>
          <a:prstGeom prst="line">
            <a:avLst/>
          </a:prstGeom>
          <a:ln w="2286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4485569">
            <a:off x="5399183" y="1942194"/>
            <a:ext cx="164592" cy="164592"/>
          </a:xfrm>
          <a:prstGeom prst="triangl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実行</a:t>
            </a:r>
          </a:p>
        </p:txBody>
      </p:sp>
      <p:sp>
        <p:nvSpPr>
          <p:cNvPr id="18" name="Oval 17"/>
          <p:cNvSpPr/>
          <p:nvPr/>
        </p:nvSpPr>
        <p:spPr>
          <a:xfrm>
            <a:off x="8690277" y="2169713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5141" y="2206289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保存</a:t>
            </a:r>
          </a:p>
        </p:txBody>
      </p:sp>
      <p:sp>
        <p:nvSpPr>
          <p:cNvPr id="20" name="Oval 19"/>
          <p:cNvSpPr/>
          <p:nvPr/>
        </p:nvSpPr>
        <p:spPr>
          <a:xfrm>
            <a:off x="7494447" y="3549858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9311" y="3586434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Agent分析</a:t>
            </a:r>
          </a:p>
        </p:txBody>
      </p:sp>
      <p:sp>
        <p:nvSpPr>
          <p:cNvPr id="22" name="Oval 21"/>
          <p:cNvSpPr/>
          <p:nvPr/>
        </p:nvSpPr>
        <p:spPr>
          <a:xfrm>
            <a:off x="3624656" y="3549858"/>
            <a:ext cx="1078992" cy="10789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9520" y="3586434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人の判断</a:t>
            </a:r>
          </a:p>
        </p:txBody>
      </p:sp>
      <p:sp>
        <p:nvSpPr>
          <p:cNvPr id="24" name="Oval 23"/>
          <p:cNvSpPr/>
          <p:nvPr/>
        </p:nvSpPr>
        <p:spPr>
          <a:xfrm>
            <a:off x="2428826" y="2169713"/>
            <a:ext cx="1078992" cy="1078992"/>
          </a:xfrm>
          <a:prstGeom prst="ellips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3690" y="2206289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次の条件</a:t>
            </a:r>
          </a:p>
        </p:txBody>
      </p:sp>
      <p:sp>
        <p:nvSpPr>
          <p:cNvPr id="26" name="Oval 25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実行→保存→分析支援→人の判断をつなぎ、次の評価を決める。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17  •  9:15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外から見て、内側を読む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78308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同じ時間軸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788920"/>
            <a:ext cx="10058400" cy="0"/>
          </a:xfrm>
          <a:prstGeom prst="line">
            <a:avLst/>
          </a:prstGeom>
          <a:ln w="20320">
            <a:solidFill>
              <a:srgbClr val="AF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11027664" y="2706624"/>
            <a:ext cx="164592" cy="164592"/>
          </a:xfrm>
          <a:prstGeom prst="triangle">
            <a:avLst/>
          </a:prstGeom>
          <a:solidFill>
            <a:srgbClr val="AF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51560" y="3913632"/>
            <a:ext cx="10058400" cy="0"/>
          </a:xfrm>
          <a:prstGeom prst="line">
            <a:avLst/>
          </a:prstGeom>
          <a:ln w="20320">
            <a:solidFill>
              <a:srgbClr val="AF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11027664" y="3831336"/>
            <a:ext cx="164592" cy="164592"/>
          </a:xfrm>
          <a:prstGeom prst="triangle">
            <a:avLst/>
          </a:prstGeom>
          <a:solidFill>
            <a:srgbClr val="AF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359152"/>
            <a:ext cx="2542032" cy="347472"/>
          </a:xfrm>
          <a:prstGeom prst="roundRect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359152"/>
            <a:ext cx="2468879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GuideLLM</a:t>
            </a:r>
            <a:br/>
            <a:r>
              <a:t>外形性能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474720"/>
            <a:ext cx="2542032" cy="347472"/>
          </a:xfrm>
          <a:prstGeom prst="round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474720"/>
            <a:ext cx="2468879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vLLM・基盤</a:t>
            </a:r>
            <a:br/>
            <a:r>
              <a:t>内部状態</a:t>
            </a:r>
          </a:p>
        </p:txBody>
      </p:sp>
      <p:sp>
        <p:nvSpPr>
          <p:cNvPr id="15" name="Oval 14"/>
          <p:cNvSpPr/>
          <p:nvPr/>
        </p:nvSpPr>
        <p:spPr>
          <a:xfrm>
            <a:off x="3931920" y="2596896"/>
            <a:ext cx="365760" cy="36576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41648" y="3721608"/>
            <a:ext cx="365760" cy="36576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15000" y="2596896"/>
            <a:ext cx="365760" cy="36576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24728" y="3721608"/>
            <a:ext cx="365760" cy="36576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79" y="2596896"/>
            <a:ext cx="365760" cy="365760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07807" y="3721608"/>
            <a:ext cx="365760" cy="365760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81160" y="2596896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90888" y="3721608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443984"/>
            <a:ext cx="33832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Yu Gothic"/>
              </a:defRPr>
            </a:pPr>
            <a:r>
              <a:t>時間一致 ≠ 因果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外形性能と内部メトリクスを、同じ時間軸で突き合わせる。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18  •  10:20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8" name="TextBox 27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測るのは、削れた手作業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6869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404301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91753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619185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66379" y="3044952"/>
            <a:ext cx="356616" cy="0"/>
          </a:xfrm>
          <a:prstGeom prst="line">
            <a:avLst/>
          </a:prstGeom>
          <a:ln w="3048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8340699" y="2962656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962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277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条件設定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846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161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転記・集計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730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045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時間同期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9614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929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再作業削減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転記・集計・時間合わせ・再作業を減らし、評価サイクルを速める。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19  •  10:45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1週間で、動くものを返す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18827" y="2082587"/>
            <a:ext cx="1728013" cy="752522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6811941">
            <a:off x="8264544" y="2752813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6685895" y="3317027"/>
            <a:ext cx="1728013" cy="752522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4788059">
            <a:off x="6603599" y="3987253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3851255" y="3346234"/>
            <a:ext cx="1728013" cy="752522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7611941">
            <a:off x="3768959" y="3263938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3784187" y="2111794"/>
            <a:ext cx="1728013" cy="752522"/>
          </a:xfrm>
          <a:prstGeom prst="line">
            <a:avLst/>
          </a:prstGeom>
          <a:ln w="2286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3988059">
            <a:off x="5429904" y="2029498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Issue</a:t>
            </a:r>
          </a:p>
        </p:txBody>
      </p:sp>
      <p:sp>
        <p:nvSpPr>
          <p:cNvPr id="16" name="Oval 15"/>
          <p:cNvSpPr/>
          <p:nvPr/>
        </p:nvSpPr>
        <p:spPr>
          <a:xfrm>
            <a:off x="8394192" y="2551176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58775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設計・実装</a:t>
            </a:r>
          </a:p>
        </p:txBody>
      </p:sp>
      <p:sp>
        <p:nvSpPr>
          <p:cNvPr id="18" name="Oval 17"/>
          <p:cNvSpPr/>
          <p:nvPr/>
        </p:nvSpPr>
        <p:spPr>
          <a:xfrm>
            <a:off x="5559552" y="3785616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382219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人の確認</a:t>
            </a:r>
          </a:p>
        </p:txBody>
      </p:sp>
      <p:sp>
        <p:nvSpPr>
          <p:cNvPr id="20" name="Oval 19"/>
          <p:cNvSpPr/>
          <p:nvPr/>
        </p:nvSpPr>
        <p:spPr>
          <a:xfrm>
            <a:off x="2724912" y="2551176"/>
            <a:ext cx="1078992" cy="10789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58775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レビュー</a:t>
            </a:r>
          </a:p>
        </p:txBody>
      </p:sp>
      <p:sp>
        <p:nvSpPr>
          <p:cNvPr id="22" name="Oval 21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Issueを起点に、毎週、検証結果か動く成果物でフィードバックを得る。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20  •  11:15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8" name="TextBox 27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会話を、次のIssueへ戻す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53138" y="1976196"/>
            <a:ext cx="1671141" cy="361812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6132981">
            <a:off x="8241983" y="2255712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949865" y="3040380"/>
            <a:ext cx="0" cy="27431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0800000">
            <a:off x="8867569" y="2985515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6724633" y="3827856"/>
            <a:ext cx="1671141" cy="361812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5467019">
            <a:off x="6642337" y="4107372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3873816" y="3843335"/>
            <a:ext cx="1671141" cy="361812"/>
          </a:xfrm>
          <a:prstGeom prst="line">
            <a:avLst/>
          </a:prstGeom>
          <a:ln w="2286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6932981">
            <a:off x="3791520" y="3761039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248230" y="3113531"/>
            <a:ext cx="0" cy="27433"/>
          </a:xfrm>
          <a:prstGeom prst="line">
            <a:avLst/>
          </a:prstGeom>
          <a:ln w="2286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>
            <a:off x="3165934" y="3031235"/>
            <a:ext cx="164592" cy="164592"/>
          </a:xfrm>
          <a:prstGeom prst="triangl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3802321" y="1991675"/>
            <a:ext cx="1671141" cy="361812"/>
          </a:xfrm>
          <a:prstGeom prst="line">
            <a:avLst/>
          </a:prstGeom>
          <a:ln w="2286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4667019">
            <a:off x="5391166" y="1909379"/>
            <a:ext cx="164592" cy="164592"/>
          </a:xfrm>
          <a:prstGeom prst="triangl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対話</a:t>
            </a:r>
          </a:p>
        </p:txBody>
      </p:sp>
      <p:sp>
        <p:nvSpPr>
          <p:cNvPr id="20" name="Oval 19"/>
          <p:cNvSpPr/>
          <p:nvPr/>
        </p:nvSpPr>
        <p:spPr>
          <a:xfrm>
            <a:off x="8410369" y="1933956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5233" y="197053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Issue</a:t>
            </a:r>
          </a:p>
        </p:txBody>
      </p:sp>
      <p:sp>
        <p:nvSpPr>
          <p:cNvPr id="22" name="Oval 21"/>
          <p:cNvSpPr/>
          <p:nvPr/>
        </p:nvSpPr>
        <p:spPr>
          <a:xfrm>
            <a:off x="8410369" y="3168396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5233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AI支援</a:t>
            </a:r>
          </a:p>
        </p:txBody>
      </p:sp>
      <p:sp>
        <p:nvSpPr>
          <p:cNvPr id="24" name="Oval 23"/>
          <p:cNvSpPr/>
          <p:nvPr/>
        </p:nvSpPr>
        <p:spPr>
          <a:xfrm>
            <a:off x="5559552" y="3785616"/>
            <a:ext cx="1078992" cy="10789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4416" y="382219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人の承認</a:t>
            </a:r>
          </a:p>
        </p:txBody>
      </p:sp>
      <p:sp>
        <p:nvSpPr>
          <p:cNvPr id="26" name="Oval 25"/>
          <p:cNvSpPr/>
          <p:nvPr/>
        </p:nvSpPr>
        <p:spPr>
          <a:xfrm>
            <a:off x="2708734" y="3168396"/>
            <a:ext cx="1078992" cy="1078992"/>
          </a:xfrm>
          <a:prstGeom prst="ellips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3598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閉域MaaS</a:t>
            </a:r>
          </a:p>
        </p:txBody>
      </p:sp>
      <p:sp>
        <p:nvSpPr>
          <p:cNvPr id="28" name="Oval 27"/>
          <p:cNvSpPr/>
          <p:nvPr/>
        </p:nvSpPr>
        <p:spPr>
          <a:xfrm>
            <a:off x="2708734" y="1933955"/>
            <a:ext cx="1078992" cy="10789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3598" y="1970531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性能比較</a:t>
            </a:r>
          </a:p>
        </p:txBody>
      </p:sp>
      <p:sp>
        <p:nvSpPr>
          <p:cNvPr id="30" name="Oval 29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ユーザー対話から閉域実行・性能比較までを一周させる。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21  •  12:00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36" name="TextBox 35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価値 ↑　総コスト 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920240"/>
            <a:ext cx="3291840" cy="233172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226771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900" b="1">
                <a:solidFill>
                  <a:srgbClr val="4CD97B"/>
                </a:solidFill>
                <a:latin typeface="Yu Gothic"/>
              </a:defRPr>
            </a:pPr>
            <a:r>
              <a:t>価値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2788920"/>
            <a:ext cx="1243584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4300" b="1">
                <a:solidFill>
                  <a:srgbClr val="4CD97B"/>
                </a:solidFill>
                <a:latin typeface="Yu Gothic"/>
              </a:defRPr>
            </a:pPr>
            <a:r>
              <a:t>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68312" y="1920240"/>
            <a:ext cx="3291840" cy="233172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2267712"/>
            <a:ext cx="257860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>
                <a:solidFill>
                  <a:srgbClr val="FF9F43"/>
                </a:solidFill>
                <a:latin typeface="Yu Gothic"/>
              </a:defRPr>
            </a:pPr>
            <a:r>
              <a:t>総コスト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3" y="2788920"/>
            <a:ext cx="1243584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4300" b="1">
                <a:solidFill>
                  <a:srgbClr val="FF9F43"/>
                </a:solidFill>
                <a:latin typeface="Yu Gothic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速さだけでなく、品質・再現性・GPU効率・判断速度まで改善する。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22  •  12:45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16" name="TextBox 15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数字は、これから積み上げる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" y="2066543"/>
            <a:ext cx="475488" cy="475488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9928" y="1965960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レポート所要時間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0872" y="1847088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55464" y="2066543"/>
            <a:ext cx="475488" cy="475488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965960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評価済みモデル数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21624" y="1847088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86216" y="2066543"/>
            <a:ext cx="475488" cy="475488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2" y="1965960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GPU利用率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072384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4712" y="3291840"/>
            <a:ext cx="475488" cy="47548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9928" y="3191256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GPU待ち時間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3072384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3291840"/>
            <a:ext cx="475488" cy="475488"/>
          </a:xfrm>
          <a:prstGeom prst="ellips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3191256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推論応答時間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21624" y="3072384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86216" y="3291840"/>
            <a:ext cx="475488" cy="47548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3191256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要望反映期間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同じ条件でKPIを追い、チーム全体の変化として評価する。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23  •  13:05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8" name="TextBox 27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学び続ける仕組みをつくる</a:t>
            </a:r>
          </a:p>
        </p:txBody>
      </p:sp>
      <p:sp>
        <p:nvSpPr>
          <p:cNvPr id="6" name="Oval 5"/>
          <p:cNvSpPr/>
          <p:nvPr/>
        </p:nvSpPr>
        <p:spPr>
          <a:xfrm>
            <a:off x="5436108" y="2427732"/>
            <a:ext cx="1325880" cy="132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90972" y="2464308"/>
            <a:ext cx="1216152" cy="12527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8" name="Oval 7"/>
          <p:cNvSpPr/>
          <p:nvPr/>
        </p:nvSpPr>
        <p:spPr>
          <a:xfrm>
            <a:off x="2308860" y="1440180"/>
            <a:ext cx="1234440" cy="123444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63724" y="1476756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AI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19322" y="2315718"/>
            <a:ext cx="1681673" cy="547634"/>
          </a:xfrm>
          <a:prstGeom prst="line">
            <a:avLst/>
          </a:prstGeom>
          <a:ln w="2159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6482265">
            <a:off x="5318699" y="27810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72500" y="1440180"/>
            <a:ext cx="1234440" cy="12344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7364" y="1476756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778995" y="2315718"/>
            <a:ext cx="1638057" cy="547634"/>
          </a:xfrm>
          <a:prstGeom prst="line">
            <a:avLst/>
          </a:prstGeom>
          <a:ln w="2159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5090853">
            <a:off x="6696699" y="27810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08860" y="3387852"/>
            <a:ext cx="1234440" cy="1234440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63724" y="3424428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基盤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719322" y="3291840"/>
            <a:ext cx="1681673" cy="484632"/>
          </a:xfrm>
          <a:prstGeom prst="line">
            <a:avLst/>
          </a:prstGeom>
          <a:ln w="2159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4435431">
            <a:off x="5318699" y="3209544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72500" y="3387852"/>
            <a:ext cx="1234440" cy="1234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7364" y="3424428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データ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6778995" y="3291840"/>
            <a:ext cx="1638057" cy="484632"/>
          </a:xfrm>
          <a:prstGeom prst="line">
            <a:avLst/>
          </a:prstGeom>
          <a:ln w="2159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7188876">
            <a:off x="6696699" y="3209544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AI・人・基盤・評価データを、短い周期でつなぐ。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24  •  13:35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  <p:sp>
        <p:nvSpPr>
          <p:cNvPr id="28" name="TextBox 27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https://tako-chan0511.github.io/vive-with-gemini/ai-agile-vive-with-gemini-5-3.html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200" b="1">
                <a:solidFill>
                  <a:srgbClr val="AFC4D6"/>
                </a:solidFill>
                <a:latin typeface="Yu Gothic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185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Yu Gothic"/>
              </a:rPr>
              <a:t>今回、伝えたかったこと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09270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AFC4D6"/>
                </a:solidFill>
                <a:latin typeface="Yu Gothic"/>
              </a:rPr>
              <a:t>人とAIの役割を分け、短いフィードバックループで価値を育てる。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47088"/>
            <a:ext cx="5321808" cy="1115568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91440" cy="1115568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2029968"/>
            <a:ext cx="438912" cy="43891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29968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1" y="1938528"/>
            <a:ext cx="436168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Yu Gothic"/>
              </a:rPr>
              <a:t>AIは「相棒」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350008"/>
            <a:ext cx="433425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DCEAF4"/>
                </a:solidFill>
                <a:latin typeface="Yu Gothic"/>
              </a:rPr>
              <a:t>作業と提案はAIへ。
最終判断と責任は人が持つ。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47088"/>
            <a:ext cx="5321808" cy="1115568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847088"/>
            <a:ext cx="91440" cy="1115568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19088" y="2029968"/>
            <a:ext cx="438912" cy="43891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029968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1938528"/>
            <a:ext cx="436168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Yu Gothic"/>
              </a:rPr>
              <a:t>小さく、早く回す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2350008"/>
            <a:ext cx="433425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DCEAF4"/>
                </a:solidFill>
                <a:latin typeface="Yu Gothic"/>
              </a:rPr>
              <a:t>試す → 確かめる → 学ぶ →
次の判断へ返す。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36392"/>
            <a:ext cx="5321808" cy="1115568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136392"/>
            <a:ext cx="91440" cy="1115568"/>
          </a:xfrm>
          <a:prstGeom prst="roundRect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319272"/>
            <a:ext cx="438912" cy="43891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3192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1" y="3227832"/>
            <a:ext cx="436168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Yu Gothic"/>
              </a:rPr>
              <a:t>境界と証拠で守る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639312"/>
            <a:ext cx="433425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DCEAF4"/>
                </a:solidFill>
                <a:latin typeface="Yu Gothic"/>
              </a:rPr>
              <a:t>許可情報・規約・自動テスト・差分・
人のレビューを組み合わせる。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136392"/>
            <a:ext cx="5321808" cy="1115568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3136392"/>
            <a:ext cx="91440" cy="111556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19088" y="3319272"/>
            <a:ext cx="438912" cy="43891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192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3227832"/>
            <a:ext cx="436168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Yu Gothic"/>
              </a:rPr>
              <a:t>学びを次へつなぐ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639312"/>
            <a:ext cx="433425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DCEAF4"/>
                </a:solidFill>
                <a:latin typeface="Yu Gothic"/>
              </a:rPr>
              <a:t>人・AI・基盤・評価データをつなぎ、
次のIssue／スプリントへ戻す。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480560"/>
            <a:ext cx="10899648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599432"/>
            <a:ext cx="8979408" cy="1042415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0B1F33"/>
                </a:solidFill>
                <a:latin typeface="Yu Gothic"/>
              </a:rPr>
              <a:t>AIに任せるのは、作業と提案。
人が手放さないのは、目的・境界・判断・責任。</a:t>
            </a:r>
          </a:p>
        </p:txBody>
      </p:sp>
      <p:pic>
        <p:nvPicPr>
          <p:cNvPr id="33" name="Picture 32" descr="vive-presenterstop-final-qr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4590288"/>
            <a:ext cx="841248" cy="841248"/>
          </a:xfrm>
          <a:prstGeom prst="rect">
            <a:avLst/>
          </a:prstGeom>
        </p:spPr>
      </p:pic>
      <p:sp>
        <p:nvSpPr>
          <p:cNvPr id="34" name="TextBox 33">
            <a:hlinkClick r:id="rId3"/>
          </p:cNvPr>
          <p:cNvSpPr txBox="1"/>
          <p:nvPr/>
        </p:nvSpPr>
        <p:spPr>
          <a:xfrm>
            <a:off x="10012680" y="5422392"/>
            <a:ext cx="12618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700" b="1">
                <a:solidFill>
                  <a:srgbClr val="42A5F5"/>
                </a:solidFill>
                <a:latin typeface="Yu Gothic"/>
              </a:rPr>
              <a:t>詳しい本文 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AFC4D6"/>
                </a:solidFill>
                <a:latin typeface="Yu Gothic"/>
              </a:rPr>
              <a:t>PresenterStop 25  •  14:10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FC4D6"/>
                </a:solidFill>
                <a:latin typeface="Yu Gothic"/>
              </a:rPr>
              <a:t>Vive with Gemini</a:t>
            </a:r>
          </a:p>
        </p:txBody>
      </p:sp>
      <p:sp>
        <p:nvSpPr>
          <p:cNvPr id="37" name="TextBox 36">
            <a:hlinkClick r:id="rId3"/>
          </p:cNvPr>
          <p:cNvSpPr txBox="1"/>
          <p:nvPr/>
        </p:nvSpPr>
        <p:spPr>
          <a:xfrm>
            <a:off x="3154680" y="6368796"/>
            <a:ext cx="61996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70" b="1" u="sng">
                <a:solidFill>
                  <a:srgbClr val="64B5F6"/>
                </a:solidFill>
                <a:latin typeface="Yu Gothic"/>
                <a:hlinkClick r:id="rId3"/>
              </a:rPr>
              <a:t>公開HP ↗  https://tako-chan0511.github.io/vive-with-gemini/ai-agile-vive-with-gemini-5-1.html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AIは『道具』でなく『相棒』― PresenterStop 25枚版</dc:title>
  <dc:subject>公開参照リンク付き・最終まとめスライド追加版</dc:subject>
  <dc:creator>原 桂介</dc:creator>
  <cp:keywords/>
  <dc:description>24 slides with speaker notes.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