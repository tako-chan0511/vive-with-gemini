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89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0:00–0:50</a:t>
            </a:r>
          </a:p>
          <a:p>
            <a:endParaRPr/>
          </a:p>
          <a:p>
            <a:r>
              <a:t>「AIに仕事を丸ごと任せた成功談」ではありません。AIを相棒として、設計・実装・テスト・確認を一緒に進めた話です。</a:t>
            </a:r>
          </a:p>
          <a:p>
            <a:r>
              <a:t>自己紹介は1文だけ。64歳から学び直し、2025年5月以降にAIとの対話で26アプリを試作し、現在は閉域MaaS基盤に取り組んでいます。</a:t>
            </a:r>
          </a:p>
          <a:p>
            <a:r>
              <a:t>第5章の詳しい本文は右下のQRコードで公開していると、冒頭で短く案内します。</a:t>
            </a:r>
          </a:p>
          <a:p>
            <a:endParaRPr/>
          </a:p>
          <a:p>
            <a:r>
              <a:t>次へのつなぎ：相棒とは、判断までAIへ渡すことではありません。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0:50–2:20</a:t>
            </a:r>
          </a:p>
          <a:p>
            <a:endParaRPr/>
          </a:p>
          <a:p>
            <a:r>
              <a:t>AIは選択肢、抜け漏れ、雛形、集計を支援します。目的・価値・安全性・採否・責任は人が持ちます。</a:t>
            </a:r>
          </a:p>
          <a:p>
            <a:r>
              <a:t>完璧な質問を作り込む前に、小さく相談し、早く確かめて、次を決めます。</a:t>
            </a:r>
          </a:p>
          <a:p>
            <a:r>
              <a:t>ここでのROI最大化は厳密な財務式ではなく、提供価値を高めながら手作業・待ち・再作業を含む総コストを下げる、Vive with Gemini固有の表現です。</a:t>
            </a:r>
          </a:p>
          <a:p>
            <a:endParaRPr/>
          </a:p>
          <a:p>
            <a:r>
              <a:t>次へのつなぎ：ただし、AIは確率的です。相棒として働ける枠組みが要ります。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2:20–3:50</a:t>
            </a:r>
          </a:p>
          <a:p>
            <a:endParaRPr/>
          </a:p>
          <a:p>
            <a:r>
              <a:t>AIには2つの側面があります。ここで強調するのは、パターン化した決め事を、毎回ぶれずに適用できる側面です。</a:t>
            </a:r>
          </a:p>
          <a:p>
            <a:r>
              <a:t>作りたい仕様に加え、テンプレートとしてローカル規約とグローバル規約を渡します。</a:t>
            </a:r>
          </a:p>
          <a:p>
            <a:r>
              <a:t>すると、規約漏れやばらつきを抑えて品質を上げながら、迷いや手戻りを減らし、生産性も上げられます。</a:t>
            </a:r>
          </a:p>
          <a:p>
            <a:r>
              <a:t>チェックリストやテスト、最終判断は引き続き人が持ちますが、この図では「決めた型の確実な適用」が品質と生産性に直結する点に絞ります。</a:t>
            </a:r>
          </a:p>
          <a:p>
            <a:endParaRPr/>
          </a:p>
          <a:p>
            <a:r>
              <a:t>次へのつなぎ：その生産性を、顧客から学ぶ速さへ変えていきます。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3:50–5:40</a:t>
            </a:r>
          </a:p>
          <a:p>
            <a:endParaRPr/>
          </a:p>
          <a:p>
            <a:r>
              <a:t>ここは工程を順番に進める話ではありません。小さくても動くものを早くつくり、お客さまに触ってもらいます。</a:t>
            </a:r>
          </a:p>
          <a:p>
            <a:r>
              <a:t>そうすると、「使える」「ここが使いにくい」「次はこれが欲しい」という生のフィードバックが返ります。</a:t>
            </a:r>
          </a:p>
          <a:p>
            <a:r>
              <a:t>価値は完成時に初めて生まれるのではありません。この往復でズレを早く見つけ、次に作るべきものを確かめること自体が、すでに顧客価値へつながっています。</a:t>
            </a:r>
          </a:p>
          <a:p>
            <a:r>
              <a:t>AIと自動化は、この往復を速める手段です。改善はAI単独の効果ではなく、作業分割やスクラム運営を含むチーム全体の結果です。</a:t>
            </a:r>
          </a:p>
          <a:p>
            <a:endParaRPr/>
          </a:p>
          <a:p>
            <a:r>
              <a:t>次へのつなぎ：同じ考え方を、現在の閉域MaaS活動へ持ち込んでいます。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5:40–7:20</a:t>
            </a:r>
          </a:p>
          <a:p>
            <a:endParaRPr/>
          </a:p>
          <a:p>
            <a:r>
              <a:t>顧客管理刷新とは別に、現在は閉域向けの社内MaaS基盤に取り組んでいます。</a:t>
            </a:r>
          </a:p>
          <a:p>
            <a:r>
              <a:t>4本柱は、AI協働開発、MaaS実行基盤、性能評価自動化、GitLab Issueと1週間スプリントです。</a:t>
            </a:r>
          </a:p>
          <a:p>
            <a:r>
              <a:t>共通ベンチ手順と評価ブックAgentは構築済み。MaaS、GPU検証、1週間スプリントは実施中。CI/CD、監視、一気通貫自動化は今後です。削減時間・削減率などの効果は測定中です。</a:t>
            </a:r>
          </a:p>
          <a:p>
            <a:endParaRPr/>
          </a:p>
          <a:p>
            <a:r>
              <a:t>次へのつなぎ：閉域で最初に設計したのは、AI利用の境界です。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7:20–9:00</a:t>
            </a:r>
          </a:p>
          <a:p>
            <a:endParaRPr/>
          </a:p>
          <a:p>
            <a:r>
              <a:t>外部接続が許可された承認済み領域だけでCopilotとCodexを使い、入力が許可された情報だけを渡します。</a:t>
            </a:r>
          </a:p>
          <a:p>
            <a:r>
              <a:t>人が成果物の内容と安全性をレビューし、承認済み成果物だけを所定手順で閉域へ反映します。</a:t>
            </a:r>
          </a:p>
          <a:p>
            <a:r>
              <a:t>閉域MaaSからクラウドAIへ直接接続する構成ではありません。閉域側ではKongを入口に、OpenShift／KubernetesがPodとGPUを管理します。</a:t>
            </a:r>
          </a:p>
          <a:p>
            <a:endParaRPr/>
          </a:p>
          <a:p>
            <a:r>
              <a:t>次へのつなぎ：閉域MaaSでモデルを提供するには、性能を同じ条件で比べる必要があります。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9:00–11:30</a:t>
            </a:r>
          </a:p>
          <a:p>
            <a:endParaRPr/>
          </a:p>
          <a:p>
            <a:r>
              <a:t>入力軸は2つです。GuideLLM側でリクエストレート、同時実行数、トークン数などの負荷を変えます。vLLM側では最大コンテキスト長、シーケンス数、バッチトークン、GPUメモリ設定などを変えます。</a:t>
            </a:r>
          </a:p>
          <a:p>
            <a:r>
              <a:t>GuideLLMで利用者視点のスループット、レイテンシー、TTFTなどを見て、同じ時間帯のPromQLでQueue、CPU、GPUなどの内部状態を見ます。</a:t>
            </a:r>
          </a:p>
          <a:p>
            <a:r>
              <a:t>GuideLLMは性能評価であり回答品質評価ではありません。時間が一致しても因果は断定しません。自動チューニングではなく、人が次の条件を決めます。</a:t>
            </a:r>
          </a:p>
          <a:p>
            <a:endParaRPr/>
          </a:p>
          <a:p>
            <a:r>
              <a:t>次へのつなぎ：ここで最も手作業が多かったのが、結果を評価ブックへまとめる部分です。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11:30–14:30（最大の見せ場）</a:t>
            </a:r>
          </a:p>
          <a:p>
            <a:endParaRPr/>
          </a:p>
          <a:p>
            <a:r>
              <a:t>独自Agent「ベンチ評価ブック作成」は構築済みで、プロジェクト関係者へ公開しています。</a:t>
            </a:r>
          </a:p>
          <a:p>
            <a:r>
              <a:t>入力はExcelテンプレート、GuideLLM結果のtarファイル、Pod起動ログの3つです。Agentが所定形式の評価ブック、比較表、グラフを作ります。</a:t>
            </a:r>
          </a:p>
          <a:p>
            <a:r>
              <a:t>渡すのは社内ルール上許可された評価データだけです。元データ、集計結果、表・グラフを人が確認し、モデル採用とGPU構成は人が最終判断します。Copilotが評価の正しさを保証するわけではありません。</a:t>
            </a:r>
          </a:p>
          <a:p>
            <a:r>
              <a:t>効率化にはつながりましたが、削減時間・削減率の定量評価は継続中です。</a:t>
            </a:r>
          </a:p>
          <a:p>
            <a:endParaRPr/>
          </a:p>
          <a:p>
            <a:r>
              <a:t>次へのつなぎ：作った評価を一度で終わらせず、次のGitLab Issueへ戻します。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14:30–16:30</a:t>
            </a:r>
          </a:p>
          <a:p>
            <a:endParaRPr/>
          </a:p>
          <a:p>
            <a:r>
              <a:t>外側は1週間スプリントです。ユーザー要望をGitLab Issueへ整理し、毎週、検証結果または動く成果物を見せてフィードバックを得ます。</a:t>
            </a:r>
          </a:p>
          <a:p>
            <a:r>
              <a:t>しかし、価値を生む中心は週1回の会話だけではありません。スプリントの内側で、人がAIへ分単位で質問し、AIの提案を確認し、すぐ次の質問へ進みます。</a:t>
            </a:r>
          </a:p>
          <a:p>
            <a:r>
              <a:t>考え込んで止まる時間を相談と検証の回数へ変え、AIとの対話回数に比例して学びと価値を積み上げる、というのが最も伝えたい点です。</a:t>
            </a:r>
          </a:p>
          <a:p>
            <a:r>
              <a:t>ただし回数だけを増やすのではなく、許可情報、規約、自動テスト、人の判断によって会話の質を守り、採否と責任は人が持ちます。</a:t>
            </a:r>
          </a:p>
          <a:p>
            <a:endParaRPr/>
          </a:p>
          <a:p>
            <a:r>
              <a:t>次へのつなぎ：最後に、成功談ではなく再現できる「任せ方」を3つ残します。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目安 16:30–18:00（約2分余白）</a:t>
            </a:r>
          </a:p>
          <a:p>
            <a:endParaRPr/>
          </a:p>
          <a:p>
            <a:r>
              <a:t>成功談で終わらず、任せ方を3つ持ち帰ってください。</a:t>
            </a:r>
          </a:p>
          <a:p>
            <a:r>
              <a:t>1. 小さく任せる。候補、雛形、抜け漏れ確認に切り出す。</a:t>
            </a:r>
          </a:p>
          <a:p>
            <a:r>
              <a:t>2. 判断基準を先に渡す。許可情報、規約、受入条件、出力形式を共有する。</a:t>
            </a:r>
          </a:p>
          <a:p>
            <a:r>
              <a:t>3. 証拠で受け取る。差分、テスト、元データを人が確認する。</a:t>
            </a:r>
          </a:p>
          <a:p>
            <a:r>
              <a:t>AIの誤りは隠さず、修正し、規約・テスト・次のIssueへ戻します。</a:t>
            </a:r>
          </a:p>
          <a:p>
            <a:endParaRPr/>
          </a:p>
          <a:p>
            <a:r>
              <a:t>締め：AIに任せるのは作業と提案。人が手放さないのは目的・境界・判断・責任です。</a:t>
            </a:r>
          </a:p>
          <a:p>
            <a:r>
              <a:t>詳細、前提、構築済み／実施中／今後の区別は、第1ページのQRコードから見られる第5章で公開しています：https://tako-chan0511.github.io/vive-with-gemini/ai-agile-vive-with-gemini-5.html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ako-chan0511.github.io/vive-with-gemini/ai-agile-vive-with-gemini-5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02920"/>
            <a:ext cx="3337560" cy="38404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4088" y="502920"/>
            <a:ext cx="32461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AI開発事例共有会｜2026.09.11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597838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Yu Gothic"/>
              </a:defRPr>
            </a:pPr>
            <a:r>
              <a:rPr dirty="0" err="1"/>
              <a:t>AIは「道具」でなく</a:t>
            </a:r>
            <a:r>
              <a:rPr lang="ja-JP" altLang="en-US" dirty="0"/>
              <a:t>「相棒」</a:t>
            </a:r>
            <a:br>
              <a:rPr dirty="0"/>
            </a:b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08703" y="1664208"/>
            <a:ext cx="53492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900" b="1">
                <a:solidFill>
                  <a:srgbClr val="D9E8F5"/>
                </a:solidFill>
                <a:latin typeface="Yu Gothic"/>
              </a:defRPr>
            </a:pPr>
            <a:r>
              <a:t>― アジャイルなAI駆動開発の実践事例 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9584"/>
            <a:ext cx="5047488" cy="841248"/>
          </a:xfrm>
          <a:prstGeom prst="roundRect">
            <a:avLst/>
          </a:prstGeom>
          <a:solidFill>
            <a:srgbClr val="234B6D"/>
          </a:solidFill>
          <a:ln w="15240">
            <a:solidFill>
              <a:srgbClr val="477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621024"/>
            <a:ext cx="4553712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AIが提案し、人が決める。</a:t>
            </a:r>
            <a:br/>
            <a:r>
              <a:t>短いフィードバックループを一緒に回す。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54880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5544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64歳から学び直し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4754880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4754880"/>
            <a:ext cx="15544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AI対話で26アプリ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4754880"/>
            <a:ext cx="1517904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61104" y="4754880"/>
            <a:ext cx="1426463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現在：閉域MaaS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532120"/>
            <a:ext cx="5257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原 桂介｜ビートテック株式会社 九州支店</a:t>
            </a:r>
          </a:p>
        </p:txBody>
      </p:sp>
      <p:sp>
        <p:nvSpPr>
          <p:cNvPr id="15" name="Oval 14"/>
          <p:cNvSpPr/>
          <p:nvPr/>
        </p:nvSpPr>
        <p:spPr>
          <a:xfrm>
            <a:off x="7434072" y="1005840"/>
            <a:ext cx="3520440" cy="3520440"/>
          </a:xfrm>
          <a:prstGeom prst="ellipse">
            <a:avLst/>
          </a:prstGeom>
          <a:solidFill>
            <a:srgbClr val="204B70"/>
          </a:solidFill>
          <a:ln w="19050">
            <a:solidFill>
              <a:srgbClr val="5B8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27848" y="1874519"/>
            <a:ext cx="1078992" cy="1078992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1874519"/>
            <a:ext cx="1078992" cy="10789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sp>
        <p:nvSpPr>
          <p:cNvPr id="18" name="Oval 17"/>
          <p:cNvSpPr/>
          <p:nvPr/>
        </p:nvSpPr>
        <p:spPr>
          <a:xfrm>
            <a:off x="9390888" y="1874519"/>
            <a:ext cx="1078992" cy="1078992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1874519"/>
            <a:ext cx="1078992" cy="10789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2167128"/>
            <a:ext cx="393192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9272016" y="2084832"/>
            <a:ext cx="164592" cy="16459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8997696" y="2578608"/>
            <a:ext cx="374904" cy="0"/>
          </a:xfrm>
          <a:prstGeom prst="line">
            <a:avLst/>
          </a:prstGeom>
          <a:ln w="27940">
            <a:solidFill>
              <a:srgbClr val="F5C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8915400" y="2496312"/>
            <a:ext cx="164592" cy="164592"/>
          </a:xfrm>
          <a:prstGeom prst="triangle">
            <a:avLst/>
          </a:prstGeom>
          <a:solidFill>
            <a:srgbClr val="F5C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94192" y="3246120"/>
            <a:ext cx="1600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3246120"/>
            <a:ext cx="1600200" cy="6217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200" b="1">
                <a:solidFill>
                  <a:srgbClr val="173B5E"/>
                </a:solidFill>
                <a:latin typeface="Yu Gothic"/>
              </a:defRPr>
            </a:pPr>
            <a:r>
              <a:t>対 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270248"/>
            <a:ext cx="1069848" cy="329184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0" y="4270248"/>
            <a:ext cx="978407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提案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59368" y="4800600"/>
            <a:ext cx="1069848" cy="32918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05088" y="4800600"/>
            <a:ext cx="978407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検証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7000" y="4270248"/>
            <a:ext cx="1069848" cy="329184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20" y="4270248"/>
            <a:ext cx="978407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5724144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D9E8F5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4800600"/>
            <a:ext cx="17373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68128" y="4864608"/>
            <a:ext cx="1426464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173B5E"/>
                </a:solidFill>
                <a:latin typeface="Yu Gothic"/>
              </a:defRPr>
            </a:pPr>
            <a:r>
              <a:t>第5章を公開</a:t>
            </a:r>
          </a:p>
        </p:txBody>
      </p:sp>
      <p:pic>
        <p:nvPicPr>
          <p:cNvPr id="38" name="Picture 37" descr="vive-chapter-5-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2" y="5175504"/>
            <a:ext cx="1316736" cy="13167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268712" y="6473952"/>
            <a:ext cx="1207008" cy="1280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800" b="1">
                <a:solidFill>
                  <a:srgbClr val="2F80ED"/>
                </a:solidFill>
                <a:latin typeface="Yu Gothic"/>
              </a:defRPr>
            </a:pPr>
            <a:r>
              <a:t>公開URL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相棒とは、判断を委ねることではない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804672"/>
            <a:ext cx="4389120" cy="329184"/>
          </a:xfrm>
          <a:prstGeom prst="roundRect">
            <a:avLst/>
          </a:prstGeom>
          <a:solidFill>
            <a:srgbClr val="FFF2E2"/>
          </a:solidFill>
          <a:ln w="1143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804672"/>
            <a:ext cx="42976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A85E13"/>
                </a:solidFill>
                <a:latin typeface="Yu Gothic"/>
              </a:defRPr>
            </a:pPr>
            <a:r>
              <a:t>※ ROI＝価値↑・総コスト↓というプロジェクト内の“方言”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80160"/>
            <a:ext cx="4160520" cy="2487168"/>
          </a:xfrm>
          <a:prstGeom prst="roundRect">
            <a:avLst/>
          </a:prstGeom>
          <a:solidFill>
            <a:srgbClr val="FFF2E2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1280160"/>
            <a:ext cx="91440" cy="2487168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389888"/>
            <a:ext cx="377647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100" b="1">
                <a:solidFill>
                  <a:srgbClr val="1F2937"/>
                </a:solidFill>
                <a:latin typeface="Yu Gothic"/>
              </a:defRPr>
            </a:pPr>
            <a:r>
              <a:t>人が持つもの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39"/>
            <a:ext cx="370332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700" b="0">
                <a:solidFill>
                  <a:srgbClr val="1F2937"/>
                </a:solidFill>
                <a:latin typeface="Yu Gothic"/>
              </a:defRPr>
            </a:pPr>
            <a:r>
              <a:t>目的・業務価値</a:t>
            </a:r>
            <a:br/>
            <a:r>
              <a:t>安全性・境界</a:t>
            </a:r>
            <a:br/>
            <a:r>
              <a:t>採用／不採用</a:t>
            </a:r>
            <a:br/>
            <a:r>
              <a:t>最終判断と責任</a:t>
            </a:r>
          </a:p>
        </p:txBody>
      </p:sp>
      <p:sp>
        <p:nvSpPr>
          <p:cNvPr id="13" name="Oval 12"/>
          <p:cNvSpPr/>
          <p:nvPr/>
        </p:nvSpPr>
        <p:spPr>
          <a:xfrm>
            <a:off x="4384548" y="2057400"/>
            <a:ext cx="749808" cy="749808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4548" y="2057400"/>
            <a:ext cx="74980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280160"/>
            <a:ext cx="4160520" cy="2487168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60920" y="1280160"/>
            <a:ext cx="91440" cy="248716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8" y="1389888"/>
            <a:ext cx="377647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100" b="1">
                <a:solidFill>
                  <a:srgbClr val="1F2937"/>
                </a:solidFill>
                <a:latin typeface="Yu Gothic"/>
              </a:defRPr>
            </a:pPr>
            <a:r>
              <a:t>AIに任せるもの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1920239"/>
            <a:ext cx="370332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700" b="0">
                <a:solidFill>
                  <a:srgbClr val="1F2937"/>
                </a:solidFill>
                <a:latin typeface="Yu Gothic"/>
              </a:defRPr>
            </a:pPr>
            <a:r>
              <a:t>選択肢の整理</a:t>
            </a:r>
            <a:br/>
            <a:r>
              <a:t>抜け漏れの指摘</a:t>
            </a:r>
            <a:br/>
            <a:r>
              <a:t>雛形・たたき台</a:t>
            </a:r>
            <a:br/>
            <a:r>
              <a:t>集計・確認支援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2066545"/>
            <a:ext cx="749808" cy="74980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2066545"/>
            <a:ext cx="74980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10912" y="1984248"/>
            <a:ext cx="2167128" cy="0"/>
          </a:xfrm>
          <a:prstGeom prst="line">
            <a:avLst/>
          </a:prstGeom>
          <a:ln w="381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095744" y="1901952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H="1">
            <a:off x="5010912" y="2926080"/>
            <a:ext cx="2167128" cy="0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4928616" y="2843784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02352" y="2176272"/>
            <a:ext cx="1975104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73B5E"/>
                </a:solidFill>
                <a:latin typeface="Yu Gothic"/>
              </a:defRPr>
            </a:pPr>
            <a:r>
              <a:t>短い対話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087368"/>
            <a:ext cx="102870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300" b="1">
                <a:solidFill>
                  <a:srgbClr val="173B5E"/>
                </a:solidFill>
                <a:latin typeface="Yu Gothic"/>
              </a:defRPr>
            </a:pPr>
            <a:r>
              <a:t>チームの価値 ＝ 単位時間あたりのフィードバック量 × 質</a:t>
            </a:r>
          </a:p>
        </p:txBody>
      </p:sp>
      <p:sp>
        <p:nvSpPr>
          <p:cNvPr id="27" name="Oval 26"/>
          <p:cNvSpPr/>
          <p:nvPr/>
        </p:nvSpPr>
        <p:spPr>
          <a:xfrm>
            <a:off x="1325880" y="4864608"/>
            <a:ext cx="960120" cy="96012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5880" y="4864608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小さく</a:t>
            </a:r>
            <a:br/>
            <a:r>
              <a:t>試す</a:t>
            </a:r>
          </a:p>
        </p:txBody>
      </p:sp>
      <p:sp>
        <p:nvSpPr>
          <p:cNvPr id="29" name="Oval 28"/>
          <p:cNvSpPr/>
          <p:nvPr/>
        </p:nvSpPr>
        <p:spPr>
          <a:xfrm>
            <a:off x="4855464" y="4864608"/>
            <a:ext cx="960120" cy="9601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55464" y="4864608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早く</a:t>
            </a:r>
            <a:br/>
            <a:r>
              <a:t>確かめる</a:t>
            </a:r>
          </a:p>
        </p:txBody>
      </p:sp>
      <p:sp>
        <p:nvSpPr>
          <p:cNvPr id="31" name="Oval 30"/>
          <p:cNvSpPr/>
          <p:nvPr/>
        </p:nvSpPr>
        <p:spPr>
          <a:xfrm>
            <a:off x="8385048" y="4864608"/>
            <a:ext cx="960120" cy="9601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85048" y="4864608"/>
            <a:ext cx="960120" cy="9601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次を</a:t>
            </a:r>
            <a:br/>
            <a:r>
              <a:t>決める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04872" y="5330952"/>
            <a:ext cx="2322576" cy="0"/>
          </a:xfrm>
          <a:prstGeom prst="line">
            <a:avLst/>
          </a:prstGeom>
          <a:ln w="3302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4645152" y="5248656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934456" y="5330952"/>
            <a:ext cx="2322575" cy="0"/>
          </a:xfrm>
          <a:prstGeom prst="line">
            <a:avLst/>
          </a:prstGeom>
          <a:ln w="3302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174736" y="5248656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1874519" y="5824728"/>
            <a:ext cx="6600887" cy="9144"/>
          </a:xfrm>
          <a:prstGeom prst="line">
            <a:avLst/>
          </a:prstGeom>
          <a:ln w="22860">
            <a:solidFill>
              <a:srgbClr val="8A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6200000">
            <a:off x="1792223" y="5751576"/>
            <a:ext cx="164592" cy="164592"/>
          </a:xfrm>
          <a:prstGeom prst="triangle">
            <a:avLst/>
          </a:prstGeom>
          <a:solidFill>
            <a:srgbClr val="8A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短い対話の回数と質を上げ、価値を高めながら総コストを抑える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AIの強み①：決めた型を、毎回ぶれずに適用する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3017520" cy="1719072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91440" cy="171907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152144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152144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097280"/>
            <a:ext cx="2121408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Yu Gothic"/>
              </a:defRPr>
            </a:pPr>
            <a:r>
              <a:t>作りたい仕様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27632"/>
            <a:ext cx="2560320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500" b="0">
                <a:solidFill>
                  <a:srgbClr val="1F2937"/>
                </a:solidFill>
                <a:latin typeface="Yu Gothic"/>
              </a:defRPr>
            </a:pPr>
            <a:r>
              <a:t>目的・要件・受入条件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0208" y="987552"/>
            <a:ext cx="7635240" cy="17190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50208" y="987552"/>
            <a:ext cx="91440" cy="1719072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69663" y="1152144"/>
            <a:ext cx="438912" cy="438912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9663" y="1152144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078992"/>
            <a:ext cx="214884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Yu Gothic"/>
              </a:defRPr>
            </a:pPr>
            <a:r>
              <a:t>テンプレート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115568"/>
            <a:ext cx="379476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536476"/>
                </a:solidFill>
                <a:latin typeface="Yu Gothic"/>
              </a:defRPr>
            </a:pPr>
            <a:r>
              <a:t>判断に使う2種類の規約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664208"/>
            <a:ext cx="3246120" cy="786384"/>
          </a:xfrm>
          <a:prstGeom prst="roundRect">
            <a:avLst/>
          </a:prstGeom>
          <a:solidFill>
            <a:srgbClr val="F2ECFA"/>
          </a:solidFill>
          <a:ln w="1397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2272" y="1709928"/>
            <a:ext cx="14173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7B61A8"/>
                </a:solidFill>
                <a:latin typeface="Yu Gothic"/>
              </a:defRPr>
            </a:pPr>
            <a:r>
              <a:t>ローカル規約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1993392"/>
            <a:ext cx="290779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Yu Gothic"/>
              </a:defRPr>
            </a:pPr>
            <a:r>
              <a:t>設計・命名・実装・テスト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664208"/>
            <a:ext cx="3355848" cy="786384"/>
          </a:xfrm>
          <a:prstGeom prst="roundRect">
            <a:avLst/>
          </a:prstGeom>
          <a:solidFill>
            <a:srgbClr val="EAF7F0"/>
          </a:solidFill>
          <a:ln w="1397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0144" y="1709928"/>
            <a:ext cx="169164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2E8B57"/>
                </a:solidFill>
                <a:latin typeface="Yu Gothic"/>
              </a:defRPr>
            </a:pPr>
            <a:r>
              <a:t>グローバル規約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993392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Yu Gothic"/>
              </a:defRPr>
            </a:pPr>
            <a:r>
              <a:t>共通標準・BP・設計原則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1472184"/>
            <a:ext cx="34747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800" b="1">
                <a:solidFill>
                  <a:srgbClr val="173B5E"/>
                </a:solidFill>
                <a:latin typeface="Yu Gothic"/>
              </a:defRPr>
            </a:pPr>
            <a:r>
              <a:t>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2734056"/>
            <a:ext cx="1645919" cy="237744"/>
          </a:xfrm>
          <a:prstGeom prst="line">
            <a:avLst/>
          </a:prstGeom>
          <a:ln w="304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893153">
            <a:off x="3666744" y="2889504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H="1">
            <a:off x="7360920" y="2734056"/>
            <a:ext cx="411480" cy="237744"/>
          </a:xfrm>
          <a:prstGeom prst="line">
            <a:avLst/>
          </a:prstGeom>
          <a:ln w="3048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4398898">
            <a:off x="7278624" y="2889504"/>
            <a:ext cx="164592" cy="164592"/>
          </a:xfrm>
          <a:prstGeom prst="triangl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828800" y="2999232"/>
            <a:ext cx="8531352" cy="786384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03120" y="31272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3127248"/>
            <a:ext cx="53035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500" b="1">
                <a:solidFill>
                  <a:srgbClr val="173B5E"/>
                </a:solidFill>
                <a:latin typeface="Yu Gothic"/>
              </a:defRPr>
            </a:pPr>
            <a: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054096"/>
            <a:ext cx="717804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Yu Gothic"/>
              </a:defRPr>
            </a:pPr>
            <a:r>
              <a:t>決められた型を、毎回ぶれずに適用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9048" y="3803904"/>
            <a:ext cx="0" cy="320040"/>
          </a:xfrm>
          <a:prstGeom prst="line">
            <a:avLst/>
          </a:prstGeom>
          <a:ln w="381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6016752" y="4041648"/>
            <a:ext cx="164592" cy="164592"/>
          </a:xfrm>
          <a:prstGeom prst="triangl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41248" y="4178808"/>
            <a:ext cx="10506456" cy="1572768"/>
          </a:xfrm>
          <a:prstGeom prst="roundRect">
            <a:avLst/>
          </a:prstGeom>
          <a:solidFill>
            <a:srgbClr val="EAF7F0"/>
          </a:solidFill>
          <a:ln w="2286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4712" y="4407408"/>
            <a:ext cx="512064" cy="51206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24712" y="4407408"/>
            <a:ext cx="5120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4270248"/>
            <a:ext cx="8641080" cy="5577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400" b="1">
                <a:solidFill>
                  <a:srgbClr val="173B5E"/>
                </a:solidFill>
                <a:latin typeface="Yu Gothic"/>
              </a:defRPr>
            </a:pPr>
            <a:r>
              <a:t>高品質 × 高生産性の成果物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65376" y="4992624"/>
            <a:ext cx="3931920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11095" y="4992624"/>
            <a:ext cx="384048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2E8B57"/>
                </a:solidFill>
                <a:latin typeface="Yu Gothic"/>
              </a:defRPr>
            </a:pPr>
            <a:r>
              <a:t>品質｜規約漏れ・ばらつきを抑える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73368" y="4992624"/>
            <a:ext cx="3931920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19088" y="4992624"/>
            <a:ext cx="384048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2F80ED"/>
                </a:solidFill>
                <a:latin typeface="Yu Gothic"/>
              </a:defRPr>
            </a:pPr>
            <a:r>
              <a:t>生産性｜迷い・手戻りを減らす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仕様と2つの規約を渡すと、AIの確実な適用が品質・生産性に直結する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早く動くものを見せる。その反応が、価値になる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3246120" cy="3310128"/>
          </a:xfrm>
          <a:prstGeom prst="roundRect">
            <a:avLst/>
          </a:prstGeom>
          <a:solidFill>
            <a:srgbClr val="EAF4FF"/>
          </a:solidFill>
          <a:ln w="2032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078992"/>
            <a:ext cx="91440" cy="331012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243584"/>
            <a:ext cx="274320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73B5E"/>
                </a:solidFill>
                <a:latin typeface="Yu Gothic"/>
              </a:defRPr>
            </a:pPr>
            <a:r>
              <a:t>小さくても動くもの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883664"/>
            <a:ext cx="2331720" cy="1225296"/>
          </a:xfrm>
          <a:prstGeom prst="rect">
            <a:avLst/>
          </a:prstGeom>
          <a:solidFill>
            <a:srgbClr val="FFFFFF"/>
          </a:solidFill>
          <a:ln w="254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25296" y="2039112"/>
            <a:ext cx="1984248" cy="1645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25296" y="2331720"/>
            <a:ext cx="457200" cy="5303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37943" y="2331720"/>
            <a:ext cx="1371600" cy="182880"/>
          </a:xfrm>
          <a:prstGeom prst="rect">
            <a:avLst/>
          </a:prstGeom>
          <a:solidFill>
            <a:srgbClr val="EAF7F0"/>
          </a:solidFill>
          <a:ln w="1016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37943" y="2660904"/>
            <a:ext cx="950976" cy="182880"/>
          </a:xfrm>
          <a:prstGeom prst="rect">
            <a:avLst/>
          </a:prstGeom>
          <a:solidFill>
            <a:srgbClr val="FFF2E2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66543" y="3108960"/>
            <a:ext cx="320040" cy="274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82496" y="3364992"/>
            <a:ext cx="1078992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" y="3794760"/>
            <a:ext cx="2578608" cy="38404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794760"/>
            <a:ext cx="248716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AI＋自動化で早くつくる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078992"/>
            <a:ext cx="3246120" cy="3310128"/>
          </a:xfrm>
          <a:prstGeom prst="roundRect">
            <a:avLst/>
          </a:prstGeom>
          <a:solidFill>
            <a:srgbClr val="FFF2E2"/>
          </a:solidFill>
          <a:ln w="203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48472" y="1078992"/>
            <a:ext cx="91440" cy="3310128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1243584"/>
            <a:ext cx="27249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73B5E"/>
                </a:solidFill>
                <a:latin typeface="Yu Gothic"/>
              </a:defRPr>
            </a:pPr>
            <a:r>
              <a:t>お客さまの反応</a:t>
            </a:r>
          </a:p>
        </p:txBody>
      </p:sp>
      <p:sp>
        <p:nvSpPr>
          <p:cNvPr id="22" name="Oval 21"/>
          <p:cNvSpPr/>
          <p:nvPr/>
        </p:nvSpPr>
        <p:spPr>
          <a:xfrm>
            <a:off x="8705088" y="1883664"/>
            <a:ext cx="493776" cy="493776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22792" y="2386584"/>
            <a:ext cx="658368" cy="71323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54896" y="1828800"/>
            <a:ext cx="17556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0616" y="1828800"/>
            <a:ext cx="1664208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2E8B57"/>
                </a:solidFill>
                <a:latin typeface="Yu Gothic"/>
              </a:defRPr>
            </a:pPr>
            <a:r>
              <a:t>使える！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4896" y="2478024"/>
            <a:ext cx="17556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0616" y="2478024"/>
            <a:ext cx="1664208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A85E13"/>
                </a:solidFill>
                <a:latin typeface="Yu Gothic"/>
              </a:defRPr>
            </a:pPr>
            <a:r>
              <a:t>ここが使いにくい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3127248"/>
            <a:ext cx="17556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0616" y="3127248"/>
            <a:ext cx="1664208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7B61A8"/>
                </a:solidFill>
                <a:latin typeface="Yu Gothic"/>
              </a:defRPr>
            </a:pPr>
            <a:r>
              <a:t>次はこれが欲しい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794760"/>
            <a:ext cx="2578608" cy="384048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32520" y="3794760"/>
            <a:ext cx="248716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Yu Gothic"/>
              </a:defRPr>
            </a:pPr>
            <a:r>
              <a:t>触った反応が返る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2816" y="1408176"/>
            <a:ext cx="371246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2F80ED"/>
                </a:solidFill>
                <a:latin typeface="Yu Gothic"/>
              </a:defRPr>
            </a:pPr>
            <a:r>
              <a:t>早く見せる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68496" y="1993392"/>
            <a:ext cx="4206240" cy="0"/>
          </a:xfrm>
          <a:prstGeom prst="line">
            <a:avLst/>
          </a:prstGeom>
          <a:ln w="381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8092440" y="1911096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H="1">
            <a:off x="3968496" y="3310128"/>
            <a:ext cx="4206240" cy="0"/>
          </a:xfrm>
          <a:prstGeom prst="line">
            <a:avLst/>
          </a:prstGeom>
          <a:ln w="3810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16200000">
            <a:off x="3886200" y="3227832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42816" y="3456432"/>
            <a:ext cx="371246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2994A"/>
                </a:solidFill>
                <a:latin typeface="Yu Gothic"/>
              </a:defRPr>
            </a:pPr>
            <a:r>
              <a:t>生のフィードバック</a:t>
            </a:r>
          </a:p>
        </p:txBody>
      </p:sp>
      <p:sp>
        <p:nvSpPr>
          <p:cNvPr id="38" name="Oval 37"/>
          <p:cNvSpPr/>
          <p:nvPr/>
        </p:nvSpPr>
        <p:spPr>
          <a:xfrm>
            <a:off x="5596128" y="2249424"/>
            <a:ext cx="1005840" cy="1005840"/>
          </a:xfrm>
          <a:prstGeom prst="ellips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96128" y="2249424"/>
            <a:ext cx="100584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短い</a:t>
            </a:r>
            <a:br/>
            <a:r>
              <a:t>往復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9048" y="3831336"/>
            <a:ext cx="0" cy="493776"/>
          </a:xfrm>
          <a:prstGeom prst="line">
            <a:avLst/>
          </a:prstGeom>
          <a:ln w="381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016752" y="4242816"/>
            <a:ext cx="164592" cy="164592"/>
          </a:xfrm>
          <a:prstGeom prst="triangl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4407408"/>
            <a:ext cx="10506456" cy="1417320"/>
          </a:xfrm>
          <a:prstGeom prst="roundRect">
            <a:avLst/>
          </a:prstGeom>
          <a:solidFill>
            <a:srgbClr val="EAF7F0"/>
          </a:solidFill>
          <a:ln w="2286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4712" y="4773168"/>
            <a:ext cx="621792" cy="62179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24712" y="4773168"/>
            <a:ext cx="621792" cy="6217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65376" y="4517136"/>
            <a:ext cx="8613648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300" b="1">
                <a:solidFill>
                  <a:srgbClr val="173B5E"/>
                </a:solidFill>
                <a:latin typeface="Yu Gothic"/>
              </a:defRPr>
            </a:pPr>
            <a:r>
              <a:t>この往復そのものが、顧客価値を育てる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38528" y="5230368"/>
            <a:ext cx="235915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84248" y="5230368"/>
            <a:ext cx="2267712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2E8B57"/>
                </a:solidFill>
                <a:latin typeface="Yu Gothic"/>
              </a:defRPr>
            </a:pPr>
            <a:r>
              <a:t>ズレが見える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18304" y="5230368"/>
            <a:ext cx="235915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64024" y="5230368"/>
            <a:ext cx="2267712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2E8B57"/>
                </a:solidFill>
                <a:latin typeface="Yu Gothic"/>
              </a:defRPr>
            </a:pPr>
            <a:r>
              <a:t>次を決められる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5230368"/>
            <a:ext cx="235915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43800" y="5230368"/>
            <a:ext cx="2267712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2E8B57"/>
                </a:solidFill>
                <a:latin typeface="Yu Gothic"/>
              </a:defRPr>
            </a:pPr>
            <a:r>
              <a:t>価値を早く届ける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早く動かし、早く反応を得る。その往復が、そのまま顧客価値になる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99890"/>
            <a:ext cx="9829800" cy="4585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rPr dirty="0" err="1"/>
              <a:t>現在の閉域MaaS</a:t>
            </a:r>
            <a:r>
              <a:rPr lang="ja-JP" altLang="en-US" dirty="0"/>
              <a:t>（</a:t>
            </a:r>
            <a:r>
              <a:rPr lang="en-US" altLang="ja-JP" dirty="0"/>
              <a:t>Models as a Service</a:t>
            </a:r>
            <a:r>
              <a:rPr lang="ja-JP" altLang="en-US" dirty="0"/>
              <a:t>）</a:t>
            </a:r>
            <a:r>
              <a:rPr dirty="0"/>
              <a:t>活動は、4本柱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005840"/>
            <a:ext cx="2532888" cy="1847088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1005840"/>
            <a:ext cx="91440" cy="184708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1792" y="1170432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170432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115568"/>
            <a:ext cx="163677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AI協働開発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645920"/>
            <a:ext cx="207568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Copilot / Codex</a:t>
            </a:r>
            <a:br/>
            <a:r>
              <a:t>境界を守る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00784" y="2889504"/>
            <a:ext cx="4398264" cy="402336"/>
          </a:xfrm>
          <a:prstGeom prst="line">
            <a:avLst/>
          </a:prstGeom>
          <a:ln w="2286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713599">
            <a:off x="6016752" y="3209544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64992" y="1005840"/>
            <a:ext cx="2532888" cy="1847088"/>
          </a:xfrm>
          <a:prstGeom prst="roundRect">
            <a:avLst/>
          </a:prstGeom>
          <a:solidFill>
            <a:srgbClr val="FFF2E2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64992" y="1005840"/>
            <a:ext cx="91440" cy="1847088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47872" y="1170432"/>
            <a:ext cx="420624" cy="420624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7872" y="1170432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115568"/>
            <a:ext cx="163677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MaaS実行基盤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1645920"/>
            <a:ext cx="207568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Kong / OpenShift</a:t>
            </a:r>
            <a:br/>
            <a:r>
              <a:t>Kubernetes / GPU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26864" y="2889504"/>
            <a:ext cx="1472184" cy="402336"/>
          </a:xfrm>
          <a:prstGeom prst="line">
            <a:avLst/>
          </a:prstGeom>
          <a:ln w="2286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6317114">
            <a:off x="6016752" y="3209544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91072" y="1005840"/>
            <a:ext cx="2532888" cy="1847088"/>
          </a:xfrm>
          <a:prstGeom prst="roundRect">
            <a:avLst/>
          </a:prstGeom>
          <a:solidFill>
            <a:srgbClr val="EAF7F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91072" y="1005840"/>
            <a:ext cx="91440" cy="184708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73952" y="1170432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1170432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1115568"/>
            <a:ext cx="163677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性能評価自動化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1645920"/>
            <a:ext cx="207568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GuideLLM / Excel</a:t>
            </a:r>
            <a:br/>
            <a:r>
              <a:t>Copilot Agent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099048" y="2889504"/>
            <a:ext cx="1453896" cy="402336"/>
          </a:xfrm>
          <a:prstGeom prst="line">
            <a:avLst/>
          </a:prstGeom>
          <a:ln w="228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5271900">
            <a:off x="6016752" y="3209544"/>
            <a:ext cx="164592" cy="164592"/>
          </a:xfrm>
          <a:prstGeom prst="triangl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17152" y="1005840"/>
            <a:ext cx="2532888" cy="1847088"/>
          </a:xfrm>
          <a:prstGeom prst="roundRect">
            <a:avLst/>
          </a:prstGeom>
          <a:solidFill>
            <a:srgbClr val="F2ECFA"/>
          </a:solidFill>
          <a:ln w="190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17152" y="1005840"/>
            <a:ext cx="91440" cy="1847088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00032" y="1170432"/>
            <a:ext cx="420624" cy="420624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0032" y="1170432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1115568"/>
            <a:ext cx="163677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適応型開発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3184" y="1645920"/>
            <a:ext cx="2075688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GitLab Issue</a:t>
            </a:r>
            <a:br/>
            <a:r>
              <a:t>1週間スプリント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099048" y="2889504"/>
            <a:ext cx="4379976" cy="402336"/>
          </a:xfrm>
          <a:prstGeom prst="line">
            <a:avLst/>
          </a:prstGeom>
          <a:ln w="2286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5885099">
            <a:off x="6016752" y="3209544"/>
            <a:ext cx="164592" cy="164592"/>
          </a:xfrm>
          <a:prstGeom prst="triangl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059936" y="3154680"/>
            <a:ext cx="4379974" cy="658368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59935" y="3293042"/>
            <a:ext cx="4379975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会話駆動型MaaSの価値提供ループ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133087"/>
            <a:ext cx="3511296" cy="1444752"/>
          </a:xfrm>
          <a:prstGeom prst="roundRect">
            <a:avLst/>
          </a:prstGeom>
          <a:solidFill>
            <a:srgbClr val="EAF7F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02920" y="4133087"/>
            <a:ext cx="91440" cy="14447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" y="4242816"/>
            <a:ext cx="3127248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構築済み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" y="4773168"/>
            <a:ext cx="305409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GuideLLM共通手順</a:t>
            </a:r>
            <a:br/>
            <a:r>
              <a:t>評価ブックAgent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133087"/>
            <a:ext cx="3511296" cy="1444752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114800" y="4133087"/>
            <a:ext cx="91440" cy="144475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15968" y="4242816"/>
            <a:ext cx="3127248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実施中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4773168"/>
            <a:ext cx="305409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MaaS・GPU検証</a:t>
            </a:r>
            <a:br/>
            <a:r>
              <a:t>1週間スプリント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26679" y="4133087"/>
            <a:ext cx="3511296" cy="1444752"/>
          </a:xfrm>
          <a:prstGeom prst="roundRect">
            <a:avLst/>
          </a:prstGeom>
          <a:solidFill>
            <a:srgbClr val="F2ECFA"/>
          </a:solidFill>
          <a:ln w="190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726679" y="4133087"/>
            <a:ext cx="91440" cy="1444752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27848" y="4242816"/>
            <a:ext cx="3127248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Yu Gothic"/>
              </a:defRPr>
            </a:pPr>
            <a:r>
              <a:t>今 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1" y="4773168"/>
            <a:ext cx="305409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CI/CD・監視</a:t>
            </a:r>
            <a:br/>
            <a:r>
              <a:t>一気通貫の自動化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92040" y="5669280"/>
            <a:ext cx="2404872" cy="329184"/>
          </a:xfrm>
          <a:prstGeom prst="roundRect">
            <a:avLst/>
          </a:prstGeom>
          <a:solidFill>
            <a:srgbClr val="FDECEC"/>
          </a:solidFill>
          <a:ln w="1143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37759" y="5669280"/>
            <a:ext cx="231343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Yu Gothic"/>
              </a:defRPr>
            </a:pPr>
            <a:r>
              <a:t>効果は測定中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構築済み・実施中・今後を分け、完成形や効果を先に決めない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173B5E"/>
                </a:solidFill>
                <a:latin typeface="Yu Gothic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AIを使える領域と、守る領域を分ける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3182112" cy="4096512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78992"/>
            <a:ext cx="91440" cy="409651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188719"/>
            <a:ext cx="2798064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Yu Gothic"/>
              </a:defRPr>
            </a:pPr>
            <a:r>
              <a:t>承認済みAI領域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19072"/>
            <a:ext cx="2724912" cy="33467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500" b="0">
                <a:solidFill>
                  <a:srgbClr val="1F2937"/>
                </a:solidFill>
                <a:latin typeface="Yu Gothic"/>
              </a:defRPr>
            </a:pPr>
            <a:r>
              <a:t>Microsoft 365 Copilot</a:t>
            </a:r>
            <a:br/>
            <a:r>
              <a:t>会議・要望・Excel分析</a:t>
            </a:r>
            <a:br/>
            <a:br/>
            <a:r>
              <a:t>VS Code上のCodex</a:t>
            </a:r>
            <a:br/>
            <a:r>
              <a:t>設計・実装・テスト支援</a:t>
            </a:r>
            <a:br/>
            <a:br/>
            <a:r>
              <a:t>入力が許可された情報のみ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417320"/>
            <a:ext cx="3182112" cy="3401568"/>
          </a:xfrm>
          <a:prstGeom prst="roundRect">
            <a:avLst/>
          </a:prstGeom>
          <a:solidFill>
            <a:srgbClr val="FFF2E2"/>
          </a:solidFill>
          <a:ln w="1905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98848" y="1417320"/>
            <a:ext cx="91440" cy="3401568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16" y="1527048"/>
            <a:ext cx="2798064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Yu Gothic"/>
              </a:defRPr>
            </a:pPr>
            <a:r>
              <a:t>統制された受け渡し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57400"/>
            <a:ext cx="2724912" cy="2651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500" b="0">
                <a:solidFill>
                  <a:srgbClr val="1F2937"/>
                </a:solidFill>
                <a:latin typeface="Yu Gothic"/>
              </a:defRPr>
            </a:pPr>
            <a:r>
              <a:t>1  情報と成果物を確認</a:t>
            </a:r>
            <a:br/>
            <a:br/>
            <a:r>
              <a:t>2  人が内容・安全性をレビュー</a:t>
            </a:r>
            <a:br/>
            <a:br/>
            <a:r>
              <a:t>3  承認済み成果物だけを反映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85632" y="1078992"/>
            <a:ext cx="3182112" cy="4096512"/>
          </a:xfrm>
          <a:prstGeom prst="roundRect">
            <a:avLst/>
          </a:prstGeom>
          <a:solidFill>
            <a:srgbClr val="EAF7F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85632" y="1078992"/>
            <a:ext cx="91440" cy="409651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1188719"/>
            <a:ext cx="2798064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Yu Gothic"/>
              </a:defRPr>
            </a:pPr>
            <a:r>
              <a:t>エアギャップ／閉域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1719072"/>
            <a:ext cx="2724912" cy="33467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500" b="0">
                <a:solidFill>
                  <a:srgbClr val="1F2937"/>
                </a:solidFill>
                <a:latin typeface="Yu Gothic"/>
              </a:defRPr>
            </a:pPr>
            <a:r>
              <a:t>Kong Gateway</a:t>
            </a:r>
            <a:br/>
            <a:r>
              <a:t>↓</a:t>
            </a:r>
            <a:br/>
            <a:r>
              <a:t>OpenShift / Kubernetes</a:t>
            </a:r>
            <a:br/>
            <a:r>
              <a:t>↓</a:t>
            </a:r>
            <a:br/>
            <a:r>
              <a:t>GPU</a:t>
            </a:r>
            <a:br/>
            <a:br/>
            <a:r>
              <a:t>MaaSを配置・実行・計測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3017520"/>
            <a:ext cx="594360" cy="0"/>
          </a:xfrm>
          <a:prstGeom prst="line">
            <a:avLst/>
          </a:prstGeom>
          <a:ln w="381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279392" y="2935224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2542032"/>
            <a:ext cx="6400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2F80ED"/>
                </a:solidFill>
                <a:latin typeface="Yu Gothic"/>
              </a:defRPr>
            </a:pPr>
            <a:r>
              <a:t>成果物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63256" y="3017520"/>
            <a:ext cx="594360" cy="0"/>
          </a:xfrm>
          <a:prstGeom prst="line">
            <a:avLst/>
          </a:prstGeom>
          <a:ln w="381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8275320" y="2935224"/>
            <a:ext cx="164592" cy="164592"/>
          </a:xfrm>
          <a:prstGeom prst="triangl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08392" y="2542032"/>
            <a:ext cx="76809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2E8B57"/>
                </a:solidFill>
                <a:latin typeface="Yu Gothic"/>
              </a:defRPr>
            </a:pPr>
            <a:r>
              <a:t>所定手順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504688"/>
            <a:ext cx="10168128" cy="50292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1288" y="5513832"/>
            <a:ext cx="985723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D64545"/>
                </a:solidFill>
                <a:latin typeface="Yu Gothic"/>
              </a:defRPr>
            </a:pPr>
            <a:r>
              <a:t>入力が許可されていない情報・認証情報  ── × ──▶  外部AI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クラウドAIから閉域MaaSへ直接接続せず、人の承認を境界に置く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173B5E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2つの入力軸を、同じ時間軸で比べる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2788920" cy="192024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987552"/>
            <a:ext cx="91440" cy="19202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097280"/>
            <a:ext cx="240487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Yu Gothic"/>
              </a:defRPr>
            </a:pPr>
            <a:r>
              <a:t>入力1｜GuideLLM負荷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27632"/>
            <a:ext cx="233172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Request rate</a:t>
            </a:r>
            <a:br/>
            <a:r>
              <a:t>Concurrency</a:t>
            </a:r>
            <a:br/>
            <a:r>
              <a:t>入出力Token / 試験時間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82112"/>
            <a:ext cx="2788920" cy="1920240"/>
          </a:xfrm>
          <a:prstGeom prst="roundRect">
            <a:avLst/>
          </a:prstGeom>
          <a:solidFill>
            <a:srgbClr val="F2ECFA"/>
          </a:solidFill>
          <a:ln w="190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1480" y="3182112"/>
            <a:ext cx="91440" cy="192024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291840"/>
            <a:ext cx="240487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Yu Gothic"/>
              </a:defRPr>
            </a:pPr>
            <a:r>
              <a:t>入力2｜vLLM設定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822191"/>
            <a:ext cx="233172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300" b="0">
                <a:solidFill>
                  <a:srgbClr val="1F2937"/>
                </a:solidFill>
                <a:latin typeface="Yu Gothic"/>
              </a:defRPr>
            </a:pPr>
            <a:r>
              <a:t>max-model-len / seqs</a:t>
            </a:r>
            <a:br/>
            <a:r>
              <a:t>batched-tokens</a:t>
            </a:r>
            <a:br/>
            <a:r>
              <a:t>GPU memory設定値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084831"/>
            <a:ext cx="2331720" cy="1901952"/>
          </a:xfrm>
          <a:prstGeom prst="roundRect">
            <a:avLst/>
          </a:prstGeom>
          <a:solidFill>
            <a:srgbClr val="EAF7F0"/>
          </a:solidFill>
          <a:ln w="2286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42232" y="2304288"/>
            <a:ext cx="2002536" cy="7863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2E8B57"/>
                </a:solidFill>
                <a:latin typeface="Yu Gothic"/>
              </a:defRPr>
            </a:pPr>
            <a:r>
              <a:t>OpenShift上の</a:t>
            </a:r>
            <a:br/>
            <a:r>
              <a:t>vLLM / MaaS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3246120"/>
            <a:ext cx="20116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536476"/>
                </a:solidFill>
                <a:latin typeface="Yu Gothic"/>
              </a:defRPr>
            </a:pPr>
            <a:r>
              <a:t>同じモデル・GPU構成・版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1965960"/>
            <a:ext cx="548640" cy="612648"/>
          </a:xfrm>
          <a:prstGeom prst="line">
            <a:avLst/>
          </a:prstGeom>
          <a:ln w="3302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8289291">
            <a:off x="3758184" y="2496312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3291840" y="3511296"/>
            <a:ext cx="548640" cy="585216"/>
          </a:xfrm>
          <a:prstGeom prst="line">
            <a:avLst/>
          </a:prstGeom>
          <a:ln w="3302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2589143">
            <a:off x="3758184" y="3429000"/>
            <a:ext cx="164592" cy="164592"/>
          </a:xfrm>
          <a:prstGeom prst="triangl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22592" y="987552"/>
            <a:ext cx="2898648" cy="1920240"/>
          </a:xfrm>
          <a:prstGeom prst="roundRect">
            <a:avLst/>
          </a:prstGeom>
          <a:solidFill>
            <a:srgbClr val="EAF7F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22592" y="987552"/>
            <a:ext cx="91440" cy="19202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59" y="1097280"/>
            <a:ext cx="25146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Yu Gothic"/>
              </a:defRPr>
            </a:pPr>
            <a:r>
              <a:t>出力1｜GuideLLM性能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1627632"/>
            <a:ext cx="2441448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Throughput / Latency</a:t>
            </a:r>
            <a:br/>
            <a:r>
              <a:t>TTFT / 成功・エラー件数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22592" y="3182112"/>
            <a:ext cx="2898648" cy="1920240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17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22592" y="3182112"/>
            <a:ext cx="91440" cy="192024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59" y="3291840"/>
            <a:ext cx="25146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Yu Gothic"/>
              </a:defRPr>
            </a:pPr>
            <a:r>
              <a:t>出力2｜基盤メトリクス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3822191"/>
            <a:ext cx="2441448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Queue / Wait / KV</a:t>
            </a:r>
            <a:br/>
            <a:r>
              <a:t>CPU / GPU / Tensor Core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419088" y="1956816"/>
            <a:ext cx="475488" cy="621792"/>
          </a:xfrm>
          <a:prstGeom prst="line">
            <a:avLst/>
          </a:prstGeom>
          <a:ln w="3302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2244321">
            <a:off x="6812280" y="1874520"/>
            <a:ext cx="164592" cy="164592"/>
          </a:xfrm>
          <a:prstGeom prst="triangl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419088" y="3511296"/>
            <a:ext cx="475488" cy="603504"/>
          </a:xfrm>
          <a:prstGeom prst="line">
            <a:avLst/>
          </a:prstGeom>
          <a:ln w="3302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8505970">
            <a:off x="6812280" y="4032504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360152" y="2039112"/>
            <a:ext cx="1417320" cy="2011680"/>
          </a:xfrm>
          <a:prstGeom prst="roundRect">
            <a:avLst/>
          </a:prstGeom>
          <a:solidFill>
            <a:srgbClr val="FFF2E2"/>
          </a:solidFill>
          <a:ln w="203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97312" y="2322576"/>
            <a:ext cx="1143000" cy="11704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A85E13"/>
                </a:solidFill>
                <a:latin typeface="Yu Gothic"/>
              </a:defRPr>
            </a:pPr>
            <a:r>
              <a:t>人が</a:t>
            </a:r>
            <a:br/>
            <a:r>
              <a:t>次の条件を</a:t>
            </a:r>
            <a:br/>
            <a:r>
              <a:t>判断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94392" y="1993392"/>
            <a:ext cx="246888" cy="493776"/>
          </a:xfrm>
          <a:prstGeom prst="line">
            <a:avLst/>
          </a:prstGeom>
          <a:ln w="2794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9206097">
            <a:off x="10158984" y="2404872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V="1">
            <a:off x="9994392" y="3611880"/>
            <a:ext cx="246888" cy="502920"/>
          </a:xfrm>
          <a:prstGeom prst="line">
            <a:avLst/>
          </a:prstGeom>
          <a:ln w="2794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568810">
            <a:off x="10158984" y="3529584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11064240" y="4206240"/>
            <a:ext cx="0" cy="1115568"/>
          </a:xfrm>
          <a:prstGeom prst="line">
            <a:avLst/>
          </a:prstGeom>
          <a:ln w="20320">
            <a:solidFill>
              <a:srgbClr val="8A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10981944" y="5239512"/>
            <a:ext cx="164592" cy="164592"/>
          </a:xfrm>
          <a:prstGeom prst="triangle">
            <a:avLst/>
          </a:prstGeom>
          <a:solidFill>
            <a:srgbClr val="8A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 flipH="1">
            <a:off x="1810512" y="5321808"/>
            <a:ext cx="9253728" cy="0"/>
          </a:xfrm>
          <a:prstGeom prst="line">
            <a:avLst/>
          </a:prstGeom>
          <a:ln w="20320">
            <a:solidFill>
              <a:srgbClr val="8A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16200000">
            <a:off x="1728216" y="5239512"/>
            <a:ext cx="164592" cy="164592"/>
          </a:xfrm>
          <a:prstGeom prst="triangle">
            <a:avLst/>
          </a:prstGeom>
          <a:solidFill>
            <a:srgbClr val="8A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76072" y="5532120"/>
            <a:ext cx="3063240" cy="329184"/>
          </a:xfrm>
          <a:prstGeom prst="roundRect">
            <a:avLst/>
          </a:prstGeom>
          <a:solidFill>
            <a:srgbClr val="FDECEC"/>
          </a:solidFill>
          <a:ln w="1143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5532120"/>
            <a:ext cx="2971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D64545"/>
                </a:solidFill>
                <a:latin typeface="Yu Gothic"/>
              </a:defRPr>
            </a:pPr>
            <a:r>
              <a:t>性能評価 ≠ 回答品質評価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5532120"/>
            <a:ext cx="2194560" cy="329184"/>
          </a:xfrm>
          <a:prstGeom prst="roundRect">
            <a:avLst/>
          </a:prstGeom>
          <a:solidFill>
            <a:srgbClr val="EEF2F6"/>
          </a:solidFill>
          <a:ln w="1143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08576" y="5532120"/>
            <a:ext cx="210312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536476"/>
                </a:solidFill>
                <a:latin typeface="Yu Gothic"/>
              </a:defRPr>
            </a:pPr>
            <a:r>
              <a:t>時間一致 ≠ 因果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53527" y="5532120"/>
            <a:ext cx="3063240" cy="329184"/>
          </a:xfrm>
          <a:prstGeom prst="roundRect">
            <a:avLst/>
          </a:prstGeom>
          <a:solidFill>
            <a:srgbClr val="EEF2F6"/>
          </a:solidFill>
          <a:ln w="1143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5532120"/>
            <a:ext cx="297180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536476"/>
                </a:solidFill>
                <a:latin typeface="Yu Gothic"/>
              </a:defRPr>
            </a:pPr>
            <a:r>
              <a:t>自動チューニングではない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外形性能と内部状態を突き合わせ、次の検証条件を人が決める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173B5E"/>
                </a:solidFill>
                <a:latin typeface="Yu Gothic"/>
              </a:defRPr>
            </a:pPr>
            <a:r>
              <a:t>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3つの入力から、共有できる評価ブックへ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45552" y="795528"/>
            <a:ext cx="3840480" cy="329184"/>
          </a:xfrm>
          <a:prstGeom prst="roundRect">
            <a:avLst/>
          </a:prstGeom>
          <a:solidFill>
            <a:srgbClr val="EAF7F0"/>
          </a:solidFill>
          <a:ln w="1143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91272" y="795528"/>
            <a:ext cx="37490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2E8B57"/>
                </a:solidFill>
                <a:latin typeface="Yu Gothic"/>
              </a:defRPr>
            </a:pPr>
            <a:r>
              <a:t>構築済み｜プロジェクト関係者へ公開済み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170432"/>
            <a:ext cx="2331720" cy="4407408"/>
          </a:xfrm>
          <a:prstGeom prst="roundRect">
            <a:avLst/>
          </a:prstGeom>
          <a:solidFill>
            <a:srgbClr val="EAF4FF"/>
          </a:solidFill>
          <a:ln w="2032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08176"/>
            <a:ext cx="1837943" cy="329184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408176"/>
            <a:ext cx="1746503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INPUT｜3種類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029968"/>
            <a:ext cx="1819656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C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075688"/>
            <a:ext cx="1673352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Yu Gothic"/>
              </a:defRPr>
            </a:pPr>
            <a:r>
              <a:t>Excelテンプレート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017520"/>
            <a:ext cx="1819656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C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063240"/>
            <a:ext cx="1673352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Yu Gothic"/>
              </a:defRPr>
            </a:pPr>
            <a:r>
              <a:t>GuideLLM結果</a:t>
            </a:r>
            <a:br/>
            <a:r>
              <a:t>tarファイル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005072"/>
            <a:ext cx="1819656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C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4050792"/>
            <a:ext cx="1673352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Yu Gothic"/>
              </a:defRPr>
            </a:pPr>
            <a:r>
              <a:t>Pod起動ログ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093208"/>
            <a:ext cx="18013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000" b="1">
                <a:solidFill>
                  <a:srgbClr val="2F80ED"/>
                </a:solidFill>
                <a:latin typeface="Yu Gothic"/>
              </a:defRPr>
            </a:pPr>
            <a:r>
              <a:t>許可された評価データのみ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9856" y="1170432"/>
            <a:ext cx="2542032" cy="4407408"/>
          </a:xfrm>
          <a:prstGeom prst="roundRect">
            <a:avLst/>
          </a:prstGeom>
          <a:solidFill>
            <a:srgbClr val="F2ECFA"/>
          </a:solidFill>
          <a:ln w="2032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03320" y="1408176"/>
            <a:ext cx="1975104" cy="329184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1408176"/>
            <a:ext cx="1883664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AGENT｜作成支援</a:t>
            </a:r>
          </a:p>
        </p:txBody>
      </p:sp>
      <p:sp>
        <p:nvSpPr>
          <p:cNvPr id="22" name="Oval 21"/>
          <p:cNvSpPr/>
          <p:nvPr/>
        </p:nvSpPr>
        <p:spPr>
          <a:xfrm>
            <a:off x="4352544" y="2130552"/>
            <a:ext cx="676656" cy="676656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52544" y="2130552"/>
            <a:ext cx="676656" cy="6766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2898648"/>
            <a:ext cx="201168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Yu Gothic"/>
              </a:defRPr>
            </a:pPr>
            <a:r>
              <a:t>Microsoft 365</a:t>
            </a:r>
            <a:br/>
            <a:r>
              <a:t>Copilot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3986784"/>
            <a:ext cx="1975104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B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94760" y="4050791"/>
            <a:ext cx="1792224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7B61A8"/>
                </a:solidFill>
                <a:latin typeface="Yu Gothic"/>
              </a:defRPr>
            </a:pPr>
            <a:r>
              <a:t>ベンチ評価ブック作成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1170432"/>
            <a:ext cx="2542032" cy="4407408"/>
          </a:xfrm>
          <a:prstGeom prst="roundRect">
            <a:avLst/>
          </a:prstGeom>
          <a:solidFill>
            <a:srgbClr val="EAF7F0"/>
          </a:solidFill>
          <a:ln w="2032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76288" y="1408176"/>
            <a:ext cx="2011680" cy="32918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22007" y="1408176"/>
            <a:ext cx="19202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OUTPUT｜標準化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2157984"/>
            <a:ext cx="1773936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77456" y="2194560"/>
            <a:ext cx="1609344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2E8B57"/>
                </a:solidFill>
                <a:latin typeface="Yu Gothic"/>
              </a:defRPr>
            </a:pPr>
            <a:r>
              <a:t>評価ブック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127248"/>
            <a:ext cx="1682496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86600" y="3127248"/>
            <a:ext cx="1591056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Yu Gothic"/>
              </a:defRPr>
            </a:pPr>
            <a:r>
              <a:t>比較表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739896"/>
            <a:ext cx="1682496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86600" y="3739896"/>
            <a:ext cx="1591056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Yu Gothic"/>
              </a:defRPr>
            </a:pPr>
            <a:r>
              <a:t>グラフ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352544"/>
            <a:ext cx="1682496" cy="4206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8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86600" y="4352544"/>
            <a:ext cx="1591056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Yu Gothic"/>
              </a:defRPr>
            </a:pPr>
            <a:r>
              <a:t>所定の列・形式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93224" y="1170432"/>
            <a:ext cx="1975104" cy="4407408"/>
          </a:xfrm>
          <a:prstGeom prst="roundRect">
            <a:avLst/>
          </a:prstGeom>
          <a:solidFill>
            <a:srgbClr val="FFF2E2"/>
          </a:solidFill>
          <a:ln w="203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021824" y="1408176"/>
            <a:ext cx="1517904" cy="329184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67544" y="1408176"/>
            <a:ext cx="1426463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HUMAN</a:t>
            </a:r>
          </a:p>
        </p:txBody>
      </p:sp>
      <p:sp>
        <p:nvSpPr>
          <p:cNvPr id="41" name="Oval 40"/>
          <p:cNvSpPr/>
          <p:nvPr/>
        </p:nvSpPr>
        <p:spPr>
          <a:xfrm>
            <a:off x="10424160" y="2093976"/>
            <a:ext cx="713232" cy="713232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24160" y="2093976"/>
            <a:ext cx="713232" cy="7132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1824" y="2907792"/>
            <a:ext cx="1517904" cy="1920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Yu Gothic"/>
              </a:defRPr>
            </a:pPr>
            <a:r>
              <a:t>元データ確認</a:t>
            </a:r>
            <a:br/>
            <a:br/>
            <a:r>
              <a:t>モデル選定</a:t>
            </a:r>
            <a:br/>
            <a:br/>
            <a:r>
              <a:t>GPU構成判断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834640" y="3346704"/>
            <a:ext cx="466344" cy="0"/>
          </a:xfrm>
          <a:prstGeom prst="line">
            <a:avLst/>
          </a:prstGeom>
          <a:ln w="3556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3218688" y="3264408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6044184" y="3346704"/>
            <a:ext cx="448056" cy="0"/>
          </a:xfrm>
          <a:prstGeom prst="line">
            <a:avLst/>
          </a:prstGeom>
          <a:ln w="3556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6409944" y="3264408"/>
            <a:ext cx="164592" cy="164592"/>
          </a:xfrm>
          <a:prstGeom prst="triangl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235440" y="3346704"/>
            <a:ext cx="438912" cy="0"/>
          </a:xfrm>
          <a:prstGeom prst="line">
            <a:avLst/>
          </a:prstGeom>
          <a:ln w="3556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9592056" y="3264408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611880" y="5669280"/>
            <a:ext cx="4974336" cy="329184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0" y="5669280"/>
            <a:ext cx="488289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入力 → Agent → 評価ブック → 人の判断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作成はAgent。元データの正しさ、モデル採用、GPU構成の判断は人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1週間の中で、AIと「分単位」に対話する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05840"/>
            <a:ext cx="7845552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78608" y="1124712"/>
            <a:ext cx="3438144" cy="329184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7" y="1124712"/>
            <a:ext cx="3346703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外側：1週間スプリント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1664208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709928"/>
            <a:ext cx="151790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2F80ED"/>
                </a:solidFill>
                <a:latin typeface="Yu Gothic"/>
              </a:defRPr>
            </a:pPr>
            <a:r>
              <a:t>ユーザー</a:t>
            </a:r>
            <a:br/>
            <a:r>
              <a:t>対話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64208"/>
            <a:ext cx="1664208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1709928"/>
            <a:ext cx="151790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7B61A8"/>
                </a:solidFill>
                <a:latin typeface="Yu Gothic"/>
              </a:defRPr>
            </a:pPr>
            <a:r>
              <a:t>GitLab</a:t>
            </a:r>
            <a:br/>
            <a:r>
              <a:t>Issue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85232" y="1664208"/>
            <a:ext cx="1664208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58384" y="1709928"/>
            <a:ext cx="151790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2F80ED"/>
                </a:solidFill>
                <a:latin typeface="Yu Gothic"/>
              </a:defRPr>
            </a:pPr>
            <a:r>
              <a:t>AI＋人で</a:t>
            </a:r>
            <a:br/>
            <a:r>
              <a:t>開発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85232" y="4553712"/>
            <a:ext cx="1664208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58384" y="4599432"/>
            <a:ext cx="151790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2994A"/>
                </a:solidFill>
                <a:latin typeface="Yu Gothic"/>
              </a:defRPr>
            </a:pPr>
            <a:r>
              <a:t>人が</a:t>
            </a:r>
            <a:br/>
            <a:r>
              <a:t>承認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4553712"/>
            <a:ext cx="1664208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4952" y="4599432"/>
            <a:ext cx="151790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2E8B57"/>
                </a:solidFill>
                <a:latin typeface="Yu Gothic"/>
              </a:defRPr>
            </a:pPr>
            <a:r>
              <a:t>閉域MaaS</a:t>
            </a:r>
            <a:br/>
            <a:r>
              <a:t>実行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553712"/>
            <a:ext cx="1664208" cy="841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" y="4599432"/>
            <a:ext cx="151790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2E8B57"/>
                </a:solidFill>
                <a:latin typeface="Yu Gothic"/>
              </a:defRPr>
            </a:pPr>
            <a:r>
              <a:t>GuideLLM</a:t>
            </a:r>
            <a:br/>
            <a:r>
              <a:t>計測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95728" y="2084831"/>
            <a:ext cx="457200" cy="0"/>
          </a:xfrm>
          <a:prstGeom prst="line">
            <a:avLst/>
          </a:prstGeom>
          <a:ln w="2794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770632" y="2002536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4709160" y="2084831"/>
            <a:ext cx="457200" cy="0"/>
          </a:xfrm>
          <a:prstGeom prst="line">
            <a:avLst/>
          </a:prstGeom>
          <a:ln w="2794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5084064" y="2002536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6657422" y="2546604"/>
            <a:ext cx="0" cy="1819656"/>
          </a:xfrm>
          <a:prstGeom prst="line">
            <a:avLst/>
          </a:prstGeom>
          <a:ln w="2794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6575126" y="4343400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H="1">
            <a:off x="4709160" y="4974336"/>
            <a:ext cx="457200" cy="0"/>
          </a:xfrm>
          <a:prstGeom prst="line">
            <a:avLst/>
          </a:prstGeom>
          <a:ln w="2794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6200000">
            <a:off x="4626864" y="4892040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 flipH="1">
            <a:off x="2395728" y="4974336"/>
            <a:ext cx="457200" cy="0"/>
          </a:xfrm>
          <a:prstGeom prst="line">
            <a:avLst/>
          </a:prstGeom>
          <a:ln w="27940">
            <a:solidFill>
              <a:srgbClr val="17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2313432" y="4892040"/>
            <a:ext cx="164592" cy="164592"/>
          </a:xfrm>
          <a:prstGeom prst="triangle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V="1">
            <a:off x="1490472" y="2606040"/>
            <a:ext cx="0" cy="1819656"/>
          </a:xfrm>
          <a:prstGeom prst="line">
            <a:avLst/>
          </a:prstGeom>
          <a:ln w="27940">
            <a:solidFill>
              <a:srgbClr val="F299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>
            <a:off x="1408175" y="2523744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965960" y="2606040"/>
            <a:ext cx="4480560" cy="1417320"/>
          </a:xfrm>
          <a:prstGeom prst="roundRect">
            <a:avLst/>
          </a:prstGeom>
          <a:solidFill>
            <a:srgbClr val="EAF4FF"/>
          </a:solidFill>
          <a:ln w="228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072384" y="2724912"/>
            <a:ext cx="2286000" cy="329184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18103" y="2724912"/>
            <a:ext cx="2194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内側：分単位の対話</a:t>
            </a:r>
          </a:p>
        </p:txBody>
      </p:sp>
      <p:sp>
        <p:nvSpPr>
          <p:cNvPr id="37" name="Oval 36"/>
          <p:cNvSpPr/>
          <p:nvPr/>
        </p:nvSpPr>
        <p:spPr>
          <a:xfrm>
            <a:off x="2304288" y="3063240"/>
            <a:ext cx="658368" cy="658368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04288" y="3063240"/>
            <a:ext cx="658368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sp>
        <p:nvSpPr>
          <p:cNvPr id="39" name="Oval 38"/>
          <p:cNvSpPr/>
          <p:nvPr/>
        </p:nvSpPr>
        <p:spPr>
          <a:xfrm>
            <a:off x="5458968" y="3063240"/>
            <a:ext cx="658368" cy="65836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58968" y="3063240"/>
            <a:ext cx="658368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99816" y="3218688"/>
            <a:ext cx="2221992" cy="0"/>
          </a:xfrm>
          <a:prstGeom prst="line">
            <a:avLst/>
          </a:prstGeom>
          <a:ln w="3175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5239512" y="3136392"/>
            <a:ext cx="164592" cy="164592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 flipH="1">
            <a:off x="3099816" y="3575304"/>
            <a:ext cx="2221992" cy="0"/>
          </a:xfrm>
          <a:prstGeom prst="line">
            <a:avLst/>
          </a:prstGeom>
          <a:ln w="31750">
            <a:solidFill>
              <a:srgbClr val="F29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6200000">
            <a:off x="3017520" y="3493008"/>
            <a:ext cx="164592" cy="164592"/>
          </a:xfrm>
          <a:prstGeom prst="triangl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30210" y="3255463"/>
            <a:ext cx="2578608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173B5E"/>
                </a:solidFill>
                <a:latin typeface="Yu Gothic"/>
              </a:defRPr>
            </a:pPr>
            <a:r>
              <a:rPr dirty="0" err="1"/>
              <a:t>質問</a:t>
            </a:r>
            <a:r>
              <a:rPr dirty="0"/>
              <a:t> → </a:t>
            </a:r>
            <a:r>
              <a:rPr dirty="0" err="1"/>
              <a:t>提案</a:t>
            </a:r>
            <a:r>
              <a:rPr dirty="0"/>
              <a:t> → </a:t>
            </a:r>
            <a:r>
              <a:rPr dirty="0" err="1"/>
              <a:t>確認</a:t>
            </a:r>
            <a:r>
              <a:rPr dirty="0"/>
              <a:t> → </a:t>
            </a:r>
            <a:r>
              <a:rPr dirty="0" err="1"/>
              <a:t>次の質問</a:t>
            </a:r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2176272" y="4104406"/>
            <a:ext cx="3666742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536476"/>
                </a:solidFill>
                <a:latin typeface="Yu Gothic"/>
              </a:defRPr>
            </a:pPr>
            <a:r>
              <a:t>考え込む時間を、相談と検証の回数へ変える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49640" y="1005840"/>
            <a:ext cx="3246120" cy="4937760"/>
          </a:xfrm>
          <a:prstGeom prst="roundRect">
            <a:avLst/>
          </a:prstGeom>
          <a:solidFill>
            <a:srgbClr val="EAF4FF"/>
          </a:solidFill>
          <a:ln w="16510">
            <a:solidFill>
              <a:srgbClr val="17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69680" y="1261872"/>
            <a:ext cx="26060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536476"/>
                </a:solidFill>
                <a:latin typeface="Yu Gothic"/>
              </a:defRPr>
            </a:pPr>
            <a:r>
              <a:t>価値を生むリズム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7968" y="1792224"/>
            <a:ext cx="2560320" cy="4846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33688" y="1792224"/>
            <a:ext cx="2468879" cy="4846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rPr dirty="0" err="1"/>
              <a:t>AIとの会話回数</a:t>
            </a:r>
            <a:r>
              <a:rPr dirty="0"/>
              <a:t> 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7232" y="2350008"/>
            <a:ext cx="6400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2400" b="1">
                <a:solidFill>
                  <a:srgbClr val="173B5E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2807208"/>
            <a:ext cx="2560320" cy="48463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33688" y="2807208"/>
            <a:ext cx="2468879" cy="4846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学び・価値 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3456432"/>
            <a:ext cx="28803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73B5E"/>
                </a:solidFill>
                <a:latin typeface="Yu Gothic"/>
              </a:rPr>
              <a:t>価値 ∝ </a:t>
            </a:r>
            <a:r>
              <a:rPr sz="1900" b="1">
                <a:solidFill>
                  <a:srgbClr val="2F80ED"/>
                </a:solidFill>
                <a:latin typeface="Yu Gothic"/>
              </a:rPr>
              <a:t>対話回数</a:t>
            </a:r>
            <a:r>
              <a:rPr sz="1900" b="1">
                <a:solidFill>
                  <a:srgbClr val="F2994A"/>
                </a:solidFill>
                <a:latin typeface="Yu Gothic"/>
              </a:rPr>
              <a:t> × 質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42248" y="4206240"/>
            <a:ext cx="26700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61120" y="4288536"/>
            <a:ext cx="2432304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  <a:latin typeface="Yu Gothic"/>
              </a:defRPr>
            </a:pPr>
            <a:r>
              <a:t>会話の質を守るもの</a:t>
            </a:r>
            <a:br/>
            <a:r>
              <a:t>規約・テスト・人の判断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61704" y="5349240"/>
            <a:ext cx="2212848" cy="329184"/>
          </a:xfrm>
          <a:prstGeom prst="roundRect">
            <a:avLst/>
          </a:prstGeom>
          <a:solidFill>
            <a:srgbClr val="FFF2E2"/>
          </a:solidFill>
          <a:ln w="1143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07424" y="5349240"/>
            <a:ext cx="212140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300" b="1">
                <a:solidFill>
                  <a:srgbClr val="A85E13"/>
                </a:solidFill>
                <a:latin typeface="Yu Gothic"/>
              </a:defRPr>
            </a:pPr>
            <a:r>
              <a:t>採否と責任は人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6281928"/>
            <a:ext cx="11457432" cy="411480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30352" y="6336792"/>
            <a:ext cx="987552" cy="301752"/>
          </a:xfrm>
          <a:prstGeom prst="round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6072" y="6336792"/>
            <a:ext cx="896112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19072" y="6291072"/>
            <a:ext cx="982980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AIと分単位に会話する。対話回数に比例して、学びと価値を積み上げる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155448"/>
            <a:ext cx="106070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55448"/>
            <a:ext cx="969263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200" b="1">
                <a:solidFill>
                  <a:srgbClr val="173B5E"/>
                </a:solidFill>
                <a:latin typeface="Yu Gothic"/>
              </a:defRPr>
            </a:pPr>
            <a:r>
              <a:t>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4008"/>
            <a:ext cx="982980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Yu Gothic"/>
              </a:defRPr>
            </a:pPr>
            <a:r>
              <a:t>成功談より持ち帰ってほしい「任せ方の勘所」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91440"/>
            <a:ext cx="39319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defRPr sz="1300" b="1">
                <a:solidFill>
                  <a:srgbClr val="D9E8F5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11183112" cy="1024128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91440" cy="102412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1170432"/>
            <a:ext cx="420624" cy="420624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115568"/>
            <a:ext cx="102870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Yu Gothic"/>
              </a:defRPr>
            </a:pPr>
            <a:r>
              <a:rPr dirty="0" err="1"/>
              <a:t>小さく任せる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58952" y="1645920"/>
            <a:ext cx="107259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候補・雛形・抜け漏れ確認へ切り出す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49424"/>
            <a:ext cx="11183112" cy="1024128"/>
          </a:xfrm>
          <a:prstGeom prst="roundRect">
            <a:avLst/>
          </a:prstGeom>
          <a:solidFill>
            <a:srgbClr val="F2ECFA"/>
          </a:solidFill>
          <a:ln w="1905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2249424"/>
            <a:ext cx="91440" cy="1024128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2414016"/>
            <a:ext cx="420624" cy="420624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414016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359152"/>
            <a:ext cx="102870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Yu Gothic"/>
              </a:defRPr>
            </a:pPr>
            <a:r>
              <a:rPr dirty="0" err="1"/>
              <a:t>判断基準を先に渡す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58952" y="2889504"/>
            <a:ext cx="10725912" cy="2941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rPr dirty="0" err="1"/>
              <a:t>許可情報・規約・受入条件・出力形式</a:t>
            </a:r>
            <a:r>
              <a:rPr lang="ja-JP" altLang="en-US" dirty="0"/>
              <a:t>（テンプレ＾とが重要）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02920" y="3493008"/>
            <a:ext cx="11183112" cy="1024128"/>
          </a:xfrm>
          <a:prstGeom prst="roundRect">
            <a:avLst/>
          </a:prstGeom>
          <a:solidFill>
            <a:srgbClr val="EAF7F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3493008"/>
            <a:ext cx="91440" cy="102412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3657600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657600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02736"/>
            <a:ext cx="102870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Yu Gothic"/>
              </a:defRPr>
            </a:pPr>
            <a:r>
              <a:rPr dirty="0" err="1"/>
              <a:t>証拠で受け取る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58952" y="4133088"/>
            <a:ext cx="1072591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defRPr sz="1400" b="0">
                <a:solidFill>
                  <a:srgbClr val="1F2937"/>
                </a:solidFill>
                <a:latin typeface="Yu Gothic"/>
              </a:defRPr>
            </a:pPr>
            <a:r>
              <a:t>差分・テスト・元データを人が確認する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64608"/>
            <a:ext cx="10817352" cy="566928"/>
          </a:xfrm>
          <a:prstGeom prst="roundRect">
            <a:avLst/>
          </a:prstGeom>
          <a:solidFill>
            <a:srgbClr val="FFF2E2"/>
          </a:solidFill>
          <a:ln w="1524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892040"/>
            <a:ext cx="10451592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defRPr sz="1800" b="1">
                <a:solidFill>
                  <a:srgbClr val="A85E13"/>
                </a:solidFill>
                <a:latin typeface="Yu Gothic"/>
              </a:defRPr>
            </a:pPr>
            <a:r>
              <a:t>AIの誤り → 修正 → 規約・テスト・次のIssueへ戻す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96128"/>
            <a:ext cx="11183112" cy="576072"/>
          </a:xfrm>
          <a:prstGeom prst="round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632704"/>
            <a:ext cx="10762488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AIに任せる：</a:t>
            </a:r>
            <a:r>
              <a:rPr sz="1600" b="1">
                <a:solidFill>
                  <a:srgbClr val="F5C451"/>
                </a:solidFill>
                <a:latin typeface="Yu Gothic"/>
              </a:rPr>
              <a:t>作業と提案　</a:t>
            </a:r>
            <a:r>
              <a:rPr sz="1600" b="1">
                <a:solidFill>
                  <a:srgbClr val="FFFFFF"/>
                </a:solidFill>
                <a:latin typeface="Yu Gothic"/>
              </a:rPr>
              <a:t>人が手放さない：</a:t>
            </a:r>
            <a:r>
              <a:rPr sz="1600" b="1">
                <a:solidFill>
                  <a:srgbClr val="F2994A"/>
                </a:solidFill>
                <a:latin typeface="Yu Gothic"/>
              </a:rPr>
              <a:t>目的・境界・判断・責任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1273</Words>
  <Application>Microsoft Office PowerPoint</Application>
  <PresentationFormat>ワイド画面</PresentationFormat>
  <Paragraphs>273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AIは「道具」でなく「相棒」</dc:title>
  <dc:subject>AI開発事例共有会・10枚版</dc:subject>
  <dc:creator>原 桂介</dc:creator>
  <cp:keywords>AI駆動開発, アジャイル, MaaS, GuideLLM, Copilot, Codex</cp:keywords>
  <dc:description>Generated from chapter 5 through 5.3 of Vive with Gemini.</dc:description>
  <cp:lastModifiedBy>桂介 原</cp:lastModifiedBy>
  <cp:revision>6</cp:revision>
  <dcterms:created xsi:type="dcterms:W3CDTF">2013-01-27T09:14:16Z</dcterms:created>
  <dcterms:modified xsi:type="dcterms:W3CDTF">2026-08-07T00:15:19Z</dcterms:modified>
  <cp:category/>
</cp:coreProperties>
</file>